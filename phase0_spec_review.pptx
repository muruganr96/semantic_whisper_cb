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0 gate per the research policy: no implementation until the lead approves this specification. Deck mirrors EXPERIMENT_SPEC.md v0.1 in the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task: biasing lists are legitimate context (contact names, domain vocab). The novelty is the semantic gate; everything else is established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formula is the whole method. Emphasize: one fitted artifact (W), everything else frozen; the lambda=0 property is what makes the comparison clean.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H1a exists because exploratory data showed bare-word embeddings carry no context signal (0.028). It converts the lead's prompt suggestion into a measured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card: measurement then consequence. The spec is not speculative — every constraint traces to a number we already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failure is the spec's origin story: every safeguard in sections 3, 5, 7 exists because of this table. V2 processor (potential-based revocation, first-token asymmetry) is implemented and unit-verified — decision 6 asks whether to adopt it as P's mechanism.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cache-parity fix: exploratory runs had P at use_cache=False vs baselines cached — a Rule 1 violation we caught and froze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 2 on the closing slide asks which keyword protocol is primary. The disclosure is deliberate — better we flag the burned split than an auditor.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Rule 1 heart: the conditions table maps one-to-one onto the policy's 'should not be changed without approval'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answers the lead's question #2: exact correct-match definition, dataset choice, and the metrics that expose vandalism, not just recovery.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Pre-registration is the antidote to the dev/eval reversal we saw in exploration: 15 dev utterances said delta=3 was safe; 60 eval utterances said otherwise. Thresholds themselves are decision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Message: approval unblocks immediate, low-risk execution — the diagnostic answers question 1 the same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Phases 2/3 being 'prepped' is exploratory authoring, not experiment execution — nothing reportable runs before approvals.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decisions, not summary. Each maps to spec section 10; minute the outcomes and update the spec to v1.0 for the audit trail.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344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· EXPERIMENT DESIGN REVIEW — RESEARCH POLICY RULE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6002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Zero-Shot Contextual Biasing for Whisper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23957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 shallow fusion + SONAR semantic gating — no model training anywhere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730752"/>
            <a:ext cx="82296" cy="128016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89763" y="3657600"/>
            <a:ext cx="82296" cy="274320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30887" y="3557016"/>
            <a:ext cx="82296" cy="475488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272010" y="3639312"/>
            <a:ext cx="82296" cy="310896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13133" y="3474720"/>
            <a:ext cx="82296" cy="640080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54257" y="3593592"/>
            <a:ext cx="82296" cy="402336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995380" y="3383280"/>
            <a:ext cx="82296" cy="822960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236503" y="3520440"/>
            <a:ext cx="82296" cy="548640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477626" y="3630168"/>
            <a:ext cx="82296" cy="329184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718750" y="3438144"/>
            <a:ext cx="82296" cy="713232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959873" y="3566160"/>
            <a:ext cx="82296" cy="457200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200996" y="3675888"/>
            <a:ext cx="82296" cy="237744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442120" y="3511296"/>
            <a:ext cx="82296" cy="566928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683243" y="3611880"/>
            <a:ext cx="82296" cy="365760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924366" y="3410712"/>
            <a:ext cx="82296" cy="768096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165490" y="3543300"/>
            <a:ext cx="82296" cy="502920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406613" y="3657600"/>
            <a:ext cx="82296" cy="274320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647736" y="3483864"/>
            <a:ext cx="82296" cy="621792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888859" y="358444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129983" y="3694176"/>
            <a:ext cx="82296" cy="201168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371106" y="3529584"/>
            <a:ext cx="82296" cy="530352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612229" y="3429000"/>
            <a:ext cx="82296" cy="731520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853353" y="3602736"/>
            <a:ext cx="82296" cy="384048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094476" y="3502152"/>
            <a:ext cx="82296" cy="585216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335599" y="3639312"/>
            <a:ext cx="82296" cy="310896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76723" y="3456432"/>
            <a:ext cx="82296" cy="676656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817846" y="3566160"/>
            <a:ext cx="82296" cy="457200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058969" y="3666744"/>
            <a:ext cx="82296" cy="256032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300093" y="3520440"/>
            <a:ext cx="82296" cy="548640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541216" y="3392424"/>
            <a:ext cx="82296" cy="804672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782339" y="3611880"/>
            <a:ext cx="82296" cy="365760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023462" y="3493008"/>
            <a:ext cx="82296" cy="603504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264586" y="3657600"/>
            <a:ext cx="82296" cy="274320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505709" y="3557016"/>
            <a:ext cx="82296" cy="475488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746832" y="3447288"/>
            <a:ext cx="82296" cy="694944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987956" y="3593592"/>
            <a:ext cx="82296" cy="402336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229079" y="3685032"/>
            <a:ext cx="82296" cy="219456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470202" y="3538728"/>
            <a:ext cx="82296" cy="512064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711326" y="3630168"/>
            <a:ext cx="82296" cy="329184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952449" y="3474720"/>
            <a:ext cx="82296" cy="640080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193572" y="3575304"/>
            <a:ext cx="82296" cy="438912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434695" y="3657600"/>
            <a:ext cx="82296" cy="274320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0675819" y="3511296"/>
            <a:ext cx="82296" cy="566928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0916942" y="3611880"/>
            <a:ext cx="82296" cy="365760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1158065" y="3703320"/>
            <a:ext cx="82296" cy="182880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1399189" y="3566160"/>
            <a:ext cx="82296" cy="457200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548640" y="4892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Implementer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Murugan Rajenthiran      </a:t>
            </a:r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 (Rule 2)      </a:t>
            </a:r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EXPERIMENT_SPEC.md v0.1      </a:t>
            </a:r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2026-07-28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548640" y="52578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Requesting approval of: hypothesis · baselines · dataset &amp; split · evaluation method · frozen experimental conditions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9436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10405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10405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2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problem, and this phase's question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700784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15568" y="1545336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words are where Whisper fails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115568" y="1801368"/>
            <a:ext cx="4828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drug names, product terms — underrepresented in training data, and exactly the words users care about most.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260604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706624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15568" y="2551176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biasing is the standard remedy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115568" y="2807208"/>
            <a:ext cx="4828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keyword list supplied at inference nudges beam search toward expected words (shallow fusion — no training).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48640" y="361188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3712464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15568" y="3557016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constraint: fully zero-shot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1115568" y="3813048"/>
            <a:ext cx="4828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Whisper, frozen SONAR, one fixed linear map W fitted offline. No fine-tuning anywhere in the pipeline.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548640" y="457200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EEF4FB"/>
          </a:solidFill>
          <a:ln/>
        </p:spPr>
      </p:sp>
      <p:sp>
        <p:nvSpPr>
          <p:cNvPr id="19" name="Text 13"/>
          <p:cNvSpPr/>
          <p:nvPr/>
        </p:nvSpPr>
        <p:spPr>
          <a:xfrm>
            <a:off x="822960" y="47731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22960" y="50749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semantic gate make trie biasing precise — boosting keywords the utterance context supports while suppressing the rest of the list?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492240" y="1600200"/>
            <a:ext cx="5074920" cy="4663440"/>
          </a:xfrm>
          <a:prstGeom prst="roundRect">
            <a:avLst>
              <a:gd name="adj" fmla="val 1765"/>
            </a:avLst>
          </a:prstGeom>
          <a:solidFill>
            <a:srgbClr val="EEF4FB"/>
          </a:solidFill>
          <a:ln/>
        </p:spPr>
      </p:sp>
      <p:sp>
        <p:nvSpPr>
          <p:cNvPr id="22" name="Shape 16"/>
          <p:cNvSpPr/>
          <p:nvPr/>
        </p:nvSpPr>
        <p:spPr>
          <a:xfrm>
            <a:off x="6903720" y="1828800"/>
            <a:ext cx="425196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086600" y="19202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086600" y="21945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log-mel → frozen Whisper encoder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9029700" y="2578608"/>
            <a:ext cx="0" cy="329184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arrow"/>
          </a:ln>
        </p:spPr>
      </p:sp>
      <p:sp>
        <p:nvSpPr>
          <p:cNvPr id="26" name="Shape 20"/>
          <p:cNvSpPr/>
          <p:nvPr/>
        </p:nvSpPr>
        <p:spPr>
          <a:xfrm>
            <a:off x="6903720" y="2907792"/>
            <a:ext cx="425196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086600" y="29992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search (frozen decoder)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7086600" y="32735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BPE token per step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9029700" y="3657600"/>
            <a:ext cx="0" cy="329184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arrow"/>
          </a:ln>
        </p:spPr>
      </p:sp>
      <p:sp>
        <p:nvSpPr>
          <p:cNvPr id="30" name="Shape 24"/>
          <p:cNvSpPr/>
          <p:nvPr/>
        </p:nvSpPr>
        <p:spPr>
          <a:xfrm>
            <a:off x="6903720" y="3986784"/>
            <a:ext cx="425196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086600" y="407822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bias term on logits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7086600" y="43525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 says WHERE · SONAR gate says HOW MUCH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9029700" y="4736592"/>
            <a:ext cx="0" cy="329184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arrow"/>
          </a:ln>
        </p:spPr>
      </p:sp>
      <p:sp>
        <p:nvSpPr>
          <p:cNvPr id="34" name="Shape 28"/>
          <p:cNvSpPr/>
          <p:nvPr/>
        </p:nvSpPr>
        <p:spPr>
          <a:xfrm>
            <a:off x="6903720" y="5065776"/>
            <a:ext cx="425196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7086600" y="515721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7086600" y="543153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words recovered, others untouched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9436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10405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10405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2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added term inside the decoding loop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9385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boost(token)  =  </a:t>
            </a:r>
            <a:pPr algn="ctr" indent="0" marL="0">
              <a:buNone/>
            </a:pPr>
            <a:r>
              <a:rPr lang="en-US" sz="26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</a:t>
            </a:r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</a:t>
            </a:r>
            <a:pPr algn="ctr" indent="0" marL="0">
              <a:buNone/>
            </a:pPr>
            <a:r>
              <a:rPr lang="en-US" sz="2600" b="1" dirty="0">
                <a:solidFill>
                  <a:srgbClr val="8EE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 · max(0, cos( state · W ,  E</a:t>
            </a:r>
            <a:pPr algn="ctr" indent="0" marL="0">
              <a:buNone/>
            </a:pPr>
            <a:r>
              <a:rPr lang="en-US" sz="2600" b="1" baseline="-40000" dirty="0">
                <a:solidFill>
                  <a:srgbClr val="8EE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</a:t>
            </a:r>
            <a:pPr algn="ctr" indent="0" marL="0">
              <a:buNone/>
            </a:pPr>
            <a:r>
              <a:rPr lang="en-US" sz="2600" b="1" dirty="0">
                <a:solidFill>
                  <a:srgbClr val="8EE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))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48640" y="3154680"/>
            <a:ext cx="3514344" cy="2286000"/>
          </a:xfrm>
          <a:prstGeom prst="roundRect">
            <a:avLst>
              <a:gd name="adj" fmla="val 3600"/>
            </a:avLst>
          </a:prstGeom>
          <a:solidFill>
            <a:srgbClr val="EEF4FB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3364992"/>
            <a:ext cx="182880" cy="18288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3310128"/>
            <a:ext cx="2782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— the trie (WHERE)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77240" y="3703320"/>
            <a:ext cx="3057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BPE-token trie over the list; 4 surface forms per word (±case × ±leading space); suffix-matched per beam per step; empty suffix = new word may start.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37304" y="3154680"/>
            <a:ext cx="3514344" cy="2286000"/>
          </a:xfrm>
          <a:prstGeom prst="roundRect">
            <a:avLst>
              <a:gd name="adj" fmla="val 3600"/>
            </a:avLst>
          </a:prstGeom>
          <a:solidFill>
            <a:srgbClr val="EEF4FB"/>
          </a:solidFill>
          <a:ln/>
        </p:spPr>
      </p:sp>
      <p:sp>
        <p:nvSpPr>
          <p:cNvPr id="13" name="Shape 10"/>
          <p:cNvSpPr/>
          <p:nvPr/>
        </p:nvSpPr>
        <p:spPr>
          <a:xfrm>
            <a:off x="4565904" y="3364992"/>
            <a:ext cx="182880" cy="182880"/>
          </a:xfrm>
          <a:prstGeom prst="ellipse">
            <a:avLst/>
          </a:prstGeom>
          <a:solidFill>
            <a:srgbClr val="8EE3C8"/>
          </a:solidFill>
          <a:ln/>
        </p:spPr>
      </p:sp>
      <p:sp>
        <p:nvSpPr>
          <p:cNvPr id="14" name="Text 11"/>
          <p:cNvSpPr/>
          <p:nvPr/>
        </p:nvSpPr>
        <p:spPr>
          <a:xfrm>
            <a:off x="4840224" y="3310128"/>
            <a:ext cx="2782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λ·cos — the gate (HOW MUCH)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565904" y="3703320"/>
            <a:ext cx="3057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layer-4 state, pooled → projected by W into SONAR space → cosine vs each keyword embedding. Relevant words boosted hard, distractors suppressed.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125968" y="3154680"/>
            <a:ext cx="3514344" cy="2286000"/>
          </a:xfrm>
          <a:prstGeom prst="roundRect">
            <a:avLst>
              <a:gd name="adj" fmla="val 3600"/>
            </a:avLst>
          </a:prstGeom>
          <a:solidFill>
            <a:srgbClr val="EEF4FB"/>
          </a:solidFill>
          <a:ln/>
        </p:spPr>
      </p:sp>
      <p:sp>
        <p:nvSpPr>
          <p:cNvPr id="17" name="Shape 14"/>
          <p:cNvSpPr/>
          <p:nvPr/>
        </p:nvSpPr>
        <p:spPr>
          <a:xfrm>
            <a:off x="8354568" y="3364992"/>
            <a:ext cx="182880" cy="1828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5"/>
          <p:cNvSpPr/>
          <p:nvPr/>
        </p:nvSpPr>
        <p:spPr>
          <a:xfrm>
            <a:off x="8628888" y="3310128"/>
            <a:ext cx="2782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— the bridge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354568" y="3703320"/>
            <a:ext cx="3057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512×1024 matrix, ridge-fitted once on frozen models (validated: ≈100% held-out retrieval). The only fitted artifact; checksummed and frozen.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669280"/>
            <a:ext cx="11091672" cy="685800"/>
          </a:xfrm>
          <a:prstGeom prst="roundRect">
            <a:avLst>
              <a:gd name="adj" fmla="val 12000"/>
            </a:avLst>
          </a:prstGeom>
          <a:solidFill>
            <a:srgbClr val="E7F3EC"/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" y="5833872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ablation by construction:  </a:t>
            </a:r>
            <a:pPr indent="0" marL="0">
              <a:buNone/>
            </a:pPr>
            <a:r>
              <a:rPr lang="en-US" sz="1250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0 reduces the proposed method to trie-only exactly. Baseline and proposal differ by this one term and nothing else (Rule 1).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9436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10405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§1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10405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2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Hypotheses — primary, offline-testable, and null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514344" cy="4023360"/>
          </a:xfrm>
          <a:prstGeom prst="roundRect">
            <a:avLst>
              <a:gd name="adj" fmla="val 2342"/>
            </a:avLst>
          </a:prstGeom>
          <a:solidFill>
            <a:srgbClr val="EEF4FB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1920240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2E7D52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9385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— primary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2514600"/>
            <a:ext cx="30571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gating beats trie-only: keyword recall +≥5 pts absolute at equal-or-better U-WER and false alarms, on both dev splits.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4434840"/>
            <a:ext cx="3057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Decided in Phase 4 under the pre-registered operating-point rule.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37304" y="1691640"/>
            <a:ext cx="3514344" cy="4023360"/>
          </a:xfrm>
          <a:prstGeom prst="roundRect">
            <a:avLst>
              <a:gd name="adj" fmla="val 2342"/>
            </a:avLst>
          </a:prstGeom>
          <a:solidFill>
            <a:srgbClr val="EEF4FB"/>
          </a:solidFill>
          <a:ln/>
        </p:spPr>
      </p:sp>
      <p:sp>
        <p:nvSpPr>
          <p:cNvPr id="12" name="Shape 9"/>
          <p:cNvSpPr/>
          <p:nvPr/>
        </p:nvSpPr>
        <p:spPr>
          <a:xfrm>
            <a:off x="4565904" y="1920240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4565904" y="19385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H1a — embedding side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65904" y="2514600"/>
            <a:ext cx="30571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Prompt-templated keyword embeddings (e.g. “A speech that includes ‘{kw}’”) separate in-context keywords from distractors far better than bare words.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65904" y="4434840"/>
            <a:ext cx="3057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 offline in minutes — no ASR decoding. Answers the lead's question #1 by measurement, and gates H1 (go/no-go: separation ≥ 0.05).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125968" y="1691640"/>
            <a:ext cx="3514344" cy="4023360"/>
          </a:xfrm>
          <a:prstGeom prst="roundRect">
            <a:avLst>
              <a:gd name="adj" fmla="val 2342"/>
            </a:avLst>
          </a:prstGeom>
          <a:solidFill>
            <a:srgbClr val="EEF4FB"/>
          </a:solidFill>
          <a:ln/>
        </p:spPr>
      </p:sp>
      <p:sp>
        <p:nvSpPr>
          <p:cNvPr id="17" name="Shape 14"/>
          <p:cNvSpPr/>
          <p:nvPr/>
        </p:nvSpPr>
        <p:spPr>
          <a:xfrm>
            <a:off x="8354568" y="1920240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C94141"/>
          </a:solidFill>
          <a:ln/>
        </p:spPr>
      </p:sp>
      <p:sp>
        <p:nvSpPr>
          <p:cNvPr id="18" name="Text 15"/>
          <p:cNvSpPr/>
          <p:nvPr/>
        </p:nvSpPr>
        <p:spPr>
          <a:xfrm>
            <a:off x="8354568" y="19385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 — null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354568" y="2514600"/>
            <a:ext cx="30571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biasing ≈ trie-only at matched operating points: the gate adds no information.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354568" y="4434840"/>
            <a:ext cx="3057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so: documented negative result; redesign targets the embedding side, not λ.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9436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10405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SPEC LOOKS THIS WAY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10405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2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evidence behind every safeguard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457200"/>
          </a:xfrm>
          <a:prstGeom prst="roundRect">
            <a:avLst>
              <a:gd name="adj" fmla="val 18000"/>
            </a:avLst>
          </a:prstGeom>
          <a:solidFill>
            <a:srgbClr val="FBF3D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72768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572768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Pre-Phase-0 exploratory numbers — motivation only (spec §9). Not for reporting, publication, or patent discussion.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8640" y="2148840"/>
            <a:ext cx="2567178" cy="3794760"/>
          </a:xfrm>
          <a:prstGeom prst="roundRect">
            <a:avLst>
              <a:gd name="adj" fmla="val 3206"/>
            </a:avLst>
          </a:prstGeom>
          <a:solidFill>
            <a:srgbClr val="EEF4FB"/>
          </a:solidFill>
          <a:ln/>
        </p:spPr>
      </p:sp>
      <p:sp>
        <p:nvSpPr>
          <p:cNvPr id="10" name="Text 6"/>
          <p:cNvSpPr/>
          <p:nvPr/>
        </p:nvSpPr>
        <p:spPr>
          <a:xfrm>
            <a:off x="731520" y="2377440"/>
            <a:ext cx="2201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≈100%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731520" y="3154680"/>
            <a:ext cx="220141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sentence retrieval, Whisper→SONAR linear map (layer 4; prefix probe 0.29 → 1.00)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31520" y="4617720"/>
            <a:ext cx="22014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W exists — the design's riskiest assumption survived first.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390138" y="2148840"/>
            <a:ext cx="2567178" cy="3794760"/>
          </a:xfrm>
          <a:prstGeom prst="roundRect">
            <a:avLst>
              <a:gd name="adj" fmla="val 3206"/>
            </a:avLst>
          </a:prstGeom>
          <a:solidFill>
            <a:srgbClr val="EEF4FB"/>
          </a:solidFill>
          <a:ln/>
        </p:spPr>
      </p:sp>
      <p:sp>
        <p:nvSpPr>
          <p:cNvPr id="14" name="Text 10"/>
          <p:cNvSpPr/>
          <p:nvPr/>
        </p:nvSpPr>
        <p:spPr>
          <a:xfrm>
            <a:off x="3573018" y="2377440"/>
            <a:ext cx="2201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4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0.028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3573018" y="3154680"/>
            <a:ext cx="220141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gate separation with bare-word embeddings (in-context vs distractor)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573018" y="4617720"/>
            <a:ext cx="22014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 to gate on → H1a prompt templates; go/no-go pre-check before any decoding.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231636" y="2148840"/>
            <a:ext cx="2567178" cy="3794760"/>
          </a:xfrm>
          <a:prstGeom prst="roundRect">
            <a:avLst>
              <a:gd name="adj" fmla="val 3206"/>
            </a:avLst>
          </a:prstGeom>
          <a:solidFill>
            <a:srgbClr val="EEF4FB"/>
          </a:solidFill>
          <a:ln/>
        </p:spPr>
      </p:sp>
      <p:sp>
        <p:nvSpPr>
          <p:cNvPr id="18" name="Text 14"/>
          <p:cNvSpPr/>
          <p:nvPr/>
        </p:nvSpPr>
        <p:spPr>
          <a:xfrm>
            <a:off x="6414516" y="2377440"/>
            <a:ext cx="2201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→ 0.52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6414516" y="3154680"/>
            <a:ext cx="220141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on certified baseline failures, trie-only shallow fusion at δ=3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414516" y="4617720"/>
            <a:ext cx="22014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trie mechanism genuinely recovers words Whisper provably lost.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9073134" y="2148840"/>
            <a:ext cx="2567178" cy="3794760"/>
          </a:xfrm>
          <a:prstGeom prst="roundRect">
            <a:avLst>
              <a:gd name="adj" fmla="val 3206"/>
            </a:avLst>
          </a:prstGeom>
          <a:solidFill>
            <a:srgbClr val="EEF4FB"/>
          </a:solidFill>
          <a:ln/>
        </p:spPr>
      </p:sp>
      <p:sp>
        <p:nvSpPr>
          <p:cNvPr id="22" name="Text 18"/>
          <p:cNvSpPr/>
          <p:nvPr/>
        </p:nvSpPr>
        <p:spPr>
          <a:xfrm>
            <a:off x="9256014" y="2377440"/>
            <a:ext cx="2201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4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0.128 → 0.700</a:t>
            </a:r>
            <a:endParaRPr lang="en-US" sz="3000" dirty="0"/>
          </a:p>
        </p:txBody>
      </p:sp>
      <p:sp>
        <p:nvSpPr>
          <p:cNvPr id="23" name="Text 19"/>
          <p:cNvSpPr/>
          <p:nvPr/>
        </p:nvSpPr>
        <p:spPr>
          <a:xfrm>
            <a:off x="9256014" y="3154680"/>
            <a:ext cx="220141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U-WER at that same δ — unconstrained boosting vandalizes unbiased words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9256014" y="4617720"/>
            <a:ext cx="22014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pre-registered U-WER budget, error-driven mining, boost-mechanics fixes.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9436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10405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INSTRUCTIVE FAILURE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10405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2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Unconstrained boosting: recall up, transcript ruined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2120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 trie δ=3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41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41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 trie+gate (bare words)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36576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≈ B everywhere — exactly what the 0.028 oracle separation predicted for bare-word gating.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6309360" y="1783080"/>
            <a:ext cx="5257800" cy="2286000"/>
          </a:xfrm>
          <a:prstGeom prst="roundRect">
            <a:avLst>
              <a:gd name="adj" fmla="val 3600"/>
            </a:avLst>
          </a:prstGeom>
          <a:solidFill>
            <a:srgbClr val="FBEAEA"/>
          </a:solidFill>
          <a:ln/>
        </p:spPr>
      </p:sp>
      <p:sp>
        <p:nvSpPr>
          <p:cNvPr id="9" name="Text 5"/>
          <p:cNvSpPr/>
          <p:nvPr/>
        </p:nvSpPr>
        <p:spPr>
          <a:xfrm>
            <a:off x="6537960" y="1965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41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damage looks like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537960" y="22860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   </a:t>
            </a:r>
            <a:pPr indent="0" marL="0">
              <a:buNone/>
            </a:pPr>
            <a:r>
              <a:rPr lang="en-US" sz="1150" dirty="0">
                <a:solidFill>
                  <a:srgbClr val="262B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…WE ARE HUSBANDMEN AND TILLERS OF THE SOIL…
</a:t>
            </a:r>
            <a:pPr indent="0" marL="0">
              <a:buNone/>
            </a:pPr>
            <a:r>
              <a:rPr lang="en-US" sz="1150" b="1" dirty="0">
                <a:solidFill>
                  <a:srgbClr val="5A6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  </a:t>
            </a:r>
            <a:pPr indent="0" marL="0">
              <a:buNone/>
            </a:pPr>
            <a:r>
              <a:rPr lang="en-US" sz="1150" dirty="0">
                <a:solidFill>
                  <a:srgbClr val="C941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…he, Wea Husspundman and Tillers of the soil…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6537960" y="306324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1 — word-start distortion field: </a:t>
            </a:r>
            <a:pPr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tokens of every list word get +δ at every word boundary.
</a:t>
            </a:r>
            <a:pPr indent="0" marL="0">
              <a:buNone/>
            </a:pPr>
            <a:r>
              <a:rPr lang="en-US" sz="1150" b="1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2 — orphaned fragments: </a:t>
            </a:r>
            <a:pPr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abandoned partial matches keep their earned bonus (no revocation).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892040"/>
            <a:ext cx="3514344" cy="1051560"/>
          </a:xfrm>
          <a:prstGeom prst="roundRect">
            <a:avLst>
              <a:gd name="adj" fmla="val 7826"/>
            </a:avLst>
          </a:prstGeom>
          <a:solidFill>
            <a:srgbClr val="E7F3EC"/>
          </a:solidFill>
          <a:ln/>
        </p:spPr>
      </p:sp>
      <p:sp>
        <p:nvSpPr>
          <p:cNvPr id="13" name="Shape 9"/>
          <p:cNvSpPr/>
          <p:nvPr/>
        </p:nvSpPr>
        <p:spPr>
          <a:xfrm>
            <a:off x="749808" y="5074920"/>
            <a:ext cx="384048" cy="384048"/>
          </a:xfrm>
          <a:prstGeom prst="ellipse">
            <a:avLst/>
          </a:prstGeom>
          <a:solidFill>
            <a:srgbClr val="2E7D5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5166360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61872" y="5029200"/>
            <a:ext cx="2599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U-WER-constrained operating points (§7)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337304" y="4892040"/>
            <a:ext cx="3514344" cy="1051560"/>
          </a:xfrm>
          <a:prstGeom prst="roundRect">
            <a:avLst>
              <a:gd name="adj" fmla="val 7826"/>
            </a:avLst>
          </a:prstGeom>
          <a:solidFill>
            <a:srgbClr val="E7F3EC"/>
          </a:solidFill>
          <a:ln/>
        </p:spPr>
      </p:sp>
      <p:sp>
        <p:nvSpPr>
          <p:cNvPr id="17" name="Shape 12"/>
          <p:cNvSpPr/>
          <p:nvPr/>
        </p:nvSpPr>
        <p:spPr>
          <a:xfrm>
            <a:off x="4538472" y="5074920"/>
            <a:ext cx="384048" cy="384048"/>
          </a:xfrm>
          <a:prstGeom prst="ellipse">
            <a:avLst/>
          </a:prstGeom>
          <a:solidFill>
            <a:srgbClr val="2E7D5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912" y="5166360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050536" y="5029200"/>
            <a:ext cx="2599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Error-driven target mining — certified headroom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8125968" y="4892040"/>
            <a:ext cx="3514344" cy="1051560"/>
          </a:xfrm>
          <a:prstGeom prst="roundRect">
            <a:avLst>
              <a:gd name="adj" fmla="val 7826"/>
            </a:avLst>
          </a:prstGeom>
          <a:solidFill>
            <a:srgbClr val="E7F3EC"/>
          </a:solidFill>
          <a:ln/>
        </p:spPr>
      </p:sp>
      <p:sp>
        <p:nvSpPr>
          <p:cNvPr id="21" name="Shape 15"/>
          <p:cNvSpPr/>
          <p:nvPr/>
        </p:nvSpPr>
        <p:spPr>
          <a:xfrm>
            <a:off x="8327136" y="5074920"/>
            <a:ext cx="384048" cy="384048"/>
          </a:xfrm>
          <a:prstGeom prst="ellipse">
            <a:avLst/>
          </a:prstGeom>
          <a:solidFill>
            <a:srgbClr val="2E7D5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8576" y="5166360"/>
            <a:ext cx="201168" cy="2011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839200" y="5029200"/>
            <a:ext cx="2599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Boost-mechanics V2 implemented &amp; unit-verified (decision 6)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9436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10405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§2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10405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2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Baselines and the proposed method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937760"/>
                <a:gridCol w="54223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the experiment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6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Whisper beam search — no biasing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 reference; source of error-driven keyword mining; Phase 1 reproduces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6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Trie shallow fusion — boost δ per continuing token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established method the proposal must beat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7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 + semantic gate — δ + λ·max(0, cos(state·W, E_kw))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novel claim; λ = 0 recovers B1 exactly (built-in ablation)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297680"/>
            <a:ext cx="11091672" cy="1737360"/>
          </a:xfrm>
          <a:prstGeom prst="roundRect">
            <a:avLst>
              <a:gd name="adj" fmla="val 4737"/>
            </a:avLst>
          </a:prstGeom>
          <a:solidFill>
            <a:srgbClr val="EEF4FB"/>
          </a:solidFill>
          <a:ln/>
        </p:spPr>
      </p:sp>
      <p:sp>
        <p:nvSpPr>
          <p:cNvPr id="8" name="Text 4"/>
          <p:cNvSpPr/>
          <p:nvPr/>
        </p:nvSpPr>
        <p:spPr>
          <a:xfrm>
            <a:off x="822960" y="44988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Comparability guarantees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822960" y="4800600"/>
            <a:ext cx="10543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decoding for all three conditions — including KV-cache OFF everywhere (P needs full-sequence states; B0/B1 match to kill the confound found in exploratory runs).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bias term inside one LogitsProcessor is the only permitted difference; anything else requires re-approval under Rule 1.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tuning on TUNE shard only: pick δ* with λ=0, then λ* at δ* — B1 is never handicapped.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9436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10405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§3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10405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2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split — develop on dev, keep test untouched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57276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LibriSpeech dev-clean + dev-other (per your instruction) · streamed, never fully downloaded · utterances &gt; 29 s excluded and counted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057400"/>
            <a:ext cx="2772918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8" name="Shape 5"/>
          <p:cNvSpPr/>
          <p:nvPr/>
        </p:nvSpPr>
        <p:spPr>
          <a:xfrm>
            <a:off x="3376422" y="2057400"/>
            <a:ext cx="8263890" cy="640080"/>
          </a:xfrm>
          <a:prstGeom prst="roundRect">
            <a:avLst>
              <a:gd name="adj" fmla="val 8571"/>
            </a:avLst>
          </a:prstGeom>
          <a:solidFill>
            <a:srgbClr val="CADCFC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2167128"/>
            <a:ext cx="27729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25% — δ, λ, template selection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321558" y="2167128"/>
            <a:ext cx="8318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DEVTEST 75% — development-time reporting (untouched during tuning)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28346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rule (frozen): sorted(ids) → Random(42).shuffle → first 25% = TUNE. Computed on unfiltered ID lists; SHA-256 of membership printed and matched across every notebook.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47472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EEF4FB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657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IS21 deep-biasing benchmark (Le et al., Interspeech'21)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77240" y="3950208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Per-utterance rare-word lists (outside the 5k most frequent training words) + distractor variants N ∈ {100, 500, 1000}; N=100 for tuning. Dev lists rebuilt with the benchmark recipe; official test lists reserved for Phase 4 → numbers directly comparable with published deep-biasing results.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309360" y="347472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EEF4FB"/>
          </a:solidFill>
          <a:ln/>
        </p:spPr>
      </p:sp>
      <p:sp>
        <p:nvSpPr>
          <p:cNvPr id="16" name="Text 13"/>
          <p:cNvSpPr/>
          <p:nvPr/>
        </p:nvSpPr>
        <p:spPr>
          <a:xfrm>
            <a:off x="6537960" y="3657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lists — secondary (headroom view)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537960" y="3950208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Corpus-level error-driven lists: words B0 provably substituted/deleted, rarity-filtered, + equal distractors. Guarantees measurable headroom — text-rarity mining alone gave baseline recall 0.983 (nothing to measure).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5623560"/>
            <a:ext cx="11091672" cy="685800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5779008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41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(spec §9):  </a:t>
            </a:r>
            <a:pPr indent="0" marL="0">
              <a:buNone/>
            </a:pPr>
            <a:r>
              <a:rPr lang="en-US" sz="1200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mining touched test-other → that split is quarantined for final reporting. All development now on dev splits; test-clean/test-other frozen until an approved Phase 4 run.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9436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10405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§4 &amp; §6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10405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2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Frozen configuration — what can and cannot differ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73152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53949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frozen value (B0 = B1 = 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openai/whisper-base — HF revision pinned in artifacts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beam 5 · deterministic · language/task pinned (en, transcribe) · no timestamps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 cache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6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disabled for ALL conditions (parity with P's state capture)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Preprocessing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kHz mono · identical feature extraction · ≤ 29 s filter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shared normalization (lowercase [a-z' ]) · jiwer version pinned · fixed attribution rules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Seeds &amp; shards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 42 everywhere · shard membership recorded + SHA-256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Calibration 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fitted once before Phase 3, checksummed, never refit (corpus = decision 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8229600" y="1737360"/>
            <a:ext cx="3337560" cy="3291840"/>
          </a:xfrm>
          <a:prstGeom prst="roundRect">
            <a:avLst>
              <a:gd name="adj" fmla="val 2500"/>
            </a:avLst>
          </a:prstGeom>
          <a:solidFill>
            <a:srgbClr val="EEF4FB"/>
          </a:solidFill>
          <a:ln/>
        </p:spPr>
      </p:sp>
      <p:sp>
        <p:nvSpPr>
          <p:cNvPr id="8" name="Text 4"/>
          <p:cNvSpPr/>
          <p:nvPr/>
        </p:nvSpPr>
        <p:spPr>
          <a:xfrm>
            <a:off x="8458200" y="1938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to differ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8458200" y="2240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 (B1, P)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 (P only)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keyword-list contents per protocol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8458200" y="356616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else changing mid-experiment = re-approval under Rule 1.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9436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10405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§5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10405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2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 — recall alone is not success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408676" cy="1965960"/>
          </a:xfrm>
          <a:prstGeom prst="roundRect">
            <a:avLst>
              <a:gd name="adj" fmla="val 4186"/>
            </a:avLst>
          </a:prstGeom>
          <a:solidFill>
            <a:srgbClr val="EEF4FB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196596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066544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011680"/>
            <a:ext cx="44028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recall (primary)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325880" y="2359152"/>
            <a:ext cx="43571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Occurrence-level via jiwer word alignment: a hit only if the keyword sits in an equal chunk. No substring credit ('king' ≠ 'kingsman'); multi-word entries need contiguous alignment.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231636" y="1737360"/>
            <a:ext cx="5408676" cy="1965960"/>
          </a:xfrm>
          <a:prstGeom prst="roundRect">
            <a:avLst>
              <a:gd name="adj" fmla="val 4186"/>
            </a:avLst>
          </a:prstGeom>
          <a:solidFill>
            <a:srgbClr val="EEF4FB"/>
          </a:solidFill>
          <a:ln/>
        </p:spPr>
      </p:sp>
      <p:sp>
        <p:nvSpPr>
          <p:cNvPr id="12" name="Shape 8"/>
          <p:cNvSpPr/>
          <p:nvPr/>
        </p:nvSpPr>
        <p:spPr>
          <a:xfrm>
            <a:off x="6460236" y="196596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2066544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08876" y="2011680"/>
            <a:ext cx="44028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B-WER / U-WER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7008876" y="2359152"/>
            <a:ext cx="43571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split by reference word (biased vs unbiased); insertions by hypothesis word — the IS21 benchmark's own protocol, so results are comparable with published work. U-WER is the collateral-damage meter and the tuning constraint.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3977640"/>
            <a:ext cx="5408676" cy="1965960"/>
          </a:xfrm>
          <a:prstGeom prst="roundRect">
            <a:avLst>
              <a:gd name="adj" fmla="val 4186"/>
            </a:avLst>
          </a:prstGeom>
          <a:solidFill>
            <a:srgbClr val="EEF4FB"/>
          </a:solidFill>
          <a:ln/>
        </p:spPr>
      </p:sp>
      <p:sp>
        <p:nvSpPr>
          <p:cNvPr id="17" name="Shape 12"/>
          <p:cNvSpPr/>
          <p:nvPr/>
        </p:nvSpPr>
        <p:spPr>
          <a:xfrm>
            <a:off x="777240" y="420624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306824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4251960"/>
            <a:ext cx="44028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325880" y="4599432"/>
            <a:ext cx="43571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words inserted where the reference has none. Meaningful because every list is ~50% distractors — the population the gate must suppress.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231636" y="3977640"/>
            <a:ext cx="5408676" cy="1965960"/>
          </a:xfrm>
          <a:prstGeom prst="roundRect">
            <a:avLst>
              <a:gd name="adj" fmla="val 4186"/>
            </a:avLst>
          </a:prstGeom>
          <a:solidFill>
            <a:srgbClr val="EEF4FB"/>
          </a:solidFill>
          <a:ln/>
        </p:spPr>
      </p:sp>
      <p:sp>
        <p:nvSpPr>
          <p:cNvPr id="22" name="Shape 16"/>
          <p:cNvSpPr/>
          <p:nvPr/>
        </p:nvSpPr>
        <p:spPr>
          <a:xfrm>
            <a:off x="6460236" y="420624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20" y="4306824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008876" y="4251960"/>
            <a:ext cx="44028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gate separation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7008876" y="4599432"/>
            <a:ext cx="43571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cos(kw, own-utterance embedding) − mean cos(distractor, utterances). Selects the H1a template and gates condition P (go/no-go ≥ 0.05).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per split (dev-clean, dev-other) with utterance and occurrence counts alongside every rate — differences under ~20 occurrences are treated as noise.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9436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10405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§7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10405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2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Pre-registered success and failure criteria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EEF4FB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8745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Operating-point rule (TUNE only, fixed before any eval):  </a:t>
            </a:r>
            <a:pPr indent="0" marL="0">
              <a:buNone/>
            </a:pPr>
            <a:r>
              <a:rPr lang="en-US" sz="1300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recall subject to U-WER ≤ 1.05 × B0 and false alarms ≤ B1's at the same δ.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E7F3EC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807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200400" y="2788920"/>
            <a:ext cx="8165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B1 − B0 ≥ +10 recall pts and P − B1 ≥ +5 pts, constraints satisfied, on both dev splits → build toward production; scale eval.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74904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FBF3DE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858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/ NEGATIVE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00400" y="3840480"/>
            <a:ext cx="8165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works but P ≈ B1 → semantic gate ineffective at this granularity. Documented negative result, interpreted through the H1a diagnostic; embedding-side redesign next.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80060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FBEAEA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910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41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200400" y="4892040"/>
            <a:ext cx="8165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(δ, λ) satisfies the U-WER budget → shallow fusion unsafe at these scales; boost-mechanics spec (asymmetry + revocation) becomes the next Phase 0.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5943600"/>
            <a:ext cx="11091672" cy="54864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6053328"/>
            <a:ext cx="10543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 before P ever runs: best template's oracle separation ≥ 0.05 — otherwise H1a is refuted for free and no GPU-hour is spent on gated decoding.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9436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10405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EXECUTE ON APPROVAL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10405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2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instruments are already built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3514344" cy="4114800"/>
          </a:xfrm>
          <a:prstGeom prst="roundRect">
            <a:avLst>
              <a:gd name="adj" fmla="val 2342"/>
            </a:avLst>
          </a:prstGeom>
          <a:solidFill>
            <a:srgbClr val="EEF4FB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12140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260604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Prompt-template diagnostic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777240" y="3200400"/>
            <a:ext cx="3057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phase0_prompt_template_diagnostic.ipynb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777240" y="3749040"/>
            <a:ext cx="30571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candidate templates scored by separation gap + ROC-AUC on both dev TUNE shards. Minutes on CPU, zero ASR decoding, audio never downloaded. Output: ranked table + decision JSON → fills spec §10.1 and the go/no-go.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337304" y="1783080"/>
            <a:ext cx="3514344" cy="4114800"/>
          </a:xfrm>
          <a:prstGeom prst="roundRect">
            <a:avLst>
              <a:gd name="adj" fmla="val 2342"/>
            </a:avLst>
          </a:prstGeom>
          <a:solidFill>
            <a:srgbClr val="EEF4FB"/>
          </a:solidFill>
          <a:ln/>
        </p:spPr>
      </p:sp>
      <p:sp>
        <p:nvSpPr>
          <p:cNvPr id="13" name="Shape 9"/>
          <p:cNvSpPr/>
          <p:nvPr/>
        </p:nvSpPr>
        <p:spPr>
          <a:xfrm>
            <a:off x="4565904" y="2011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632" y="212140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65904" y="260604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baseline validation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4565904" y="3200400"/>
            <a:ext cx="3057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phase1_baseline_validation.ipynb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565904" y="3749040"/>
            <a:ext cx="30571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Reviewer-reproducible B0: frozen config echoed to artifacts, resumable per-utterance JSONL, deterministic shards with SHA-256, published-WER sanity corridor, and a written Rule 2 verification protocol.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125968" y="1783080"/>
            <a:ext cx="3514344" cy="4114800"/>
          </a:xfrm>
          <a:prstGeom prst="roundRect">
            <a:avLst>
              <a:gd name="adj" fmla="val 2342"/>
            </a:avLst>
          </a:prstGeom>
          <a:solidFill>
            <a:srgbClr val="EEF4FB"/>
          </a:solidFill>
          <a:ln/>
        </p:spPr>
      </p:sp>
      <p:sp>
        <p:nvSpPr>
          <p:cNvPr id="19" name="Shape 14"/>
          <p:cNvSpPr/>
          <p:nvPr/>
        </p:nvSpPr>
        <p:spPr>
          <a:xfrm>
            <a:off x="8354568" y="2011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4296" y="212140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54568" y="260604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Calibration-corpus instruments (§10.3)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8354568" y="3200400"/>
            <a:ext cx="3057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2×2 grid: {WikiText, LibriSpeech} × {silence, audio}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8354568" y="3749040"/>
            <a:ext cx="30571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Audio-conditioned and text-only LibriSpeech alignment notebooks fit W variants and cross-evaluate every artifact — the corpus decision gets made by measurement, then frozen.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6035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prepped for Phase 2: V1 pipeline (trie + hook + LogitsProcessor, step-trace demo cell) and the V2 boost-mechanics variant, unit-verified.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9436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10405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10405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2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 in the approval flow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1658112" cy="3108960"/>
          </a:xfrm>
          <a:prstGeom prst="roundRect">
            <a:avLst>
              <a:gd name="adj" fmla="val 4963"/>
            </a:avLst>
          </a:prstGeom>
          <a:solidFill>
            <a:srgbClr val="FBF3DE"/>
          </a:solidFill>
          <a:ln/>
        </p:spPr>
      </p:sp>
      <p:sp>
        <p:nvSpPr>
          <p:cNvPr id="7" name="Shape 4"/>
          <p:cNvSpPr/>
          <p:nvPr/>
        </p:nvSpPr>
        <p:spPr>
          <a:xfrm>
            <a:off x="1103376" y="2148840"/>
            <a:ext cx="548640" cy="548640"/>
          </a:xfrm>
          <a:prstGeom prst="ellipse">
            <a:avLst/>
          </a:prstGeom>
          <a:solidFill>
            <a:srgbClr val="B07A1E"/>
          </a:solidFill>
          <a:ln/>
        </p:spPr>
      </p:sp>
      <p:sp>
        <p:nvSpPr>
          <p:cNvPr id="8" name="Text 5"/>
          <p:cNvSpPr/>
          <p:nvPr/>
        </p:nvSpPr>
        <p:spPr>
          <a:xfrm>
            <a:off x="1103376" y="21762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2834640"/>
            <a:ext cx="147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3127248"/>
            <a:ext cx="1475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B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REVIEW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76656" y="3429000"/>
            <a:ext cx="140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— spec v0.1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206752" y="3474720"/>
            <a:ext cx="22860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arrow"/>
          </a:ln>
        </p:spPr>
      </p:sp>
      <p:sp>
        <p:nvSpPr>
          <p:cNvPr id="13" name="Shape 10"/>
          <p:cNvSpPr/>
          <p:nvPr/>
        </p:nvSpPr>
        <p:spPr>
          <a:xfrm>
            <a:off x="2435352" y="1920240"/>
            <a:ext cx="1658112" cy="3108960"/>
          </a:xfrm>
          <a:prstGeom prst="roundRect">
            <a:avLst>
              <a:gd name="adj" fmla="val 4963"/>
            </a:avLst>
          </a:prstGeom>
          <a:solidFill>
            <a:srgbClr val="EEF4FB"/>
          </a:solidFill>
          <a:ln/>
        </p:spPr>
      </p:sp>
      <p:sp>
        <p:nvSpPr>
          <p:cNvPr id="14" name="Shape 11"/>
          <p:cNvSpPr/>
          <p:nvPr/>
        </p:nvSpPr>
        <p:spPr>
          <a:xfrm>
            <a:off x="2990088" y="2148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2990088" y="21762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2526792" y="2834640"/>
            <a:ext cx="147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526792" y="3127248"/>
            <a:ext cx="1475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563368" y="3429000"/>
            <a:ext cx="140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ready; needs assigned reviewer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093464" y="3474720"/>
            <a:ext cx="22860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arrow"/>
          </a:ln>
        </p:spPr>
      </p:sp>
      <p:sp>
        <p:nvSpPr>
          <p:cNvPr id="20" name="Shape 17"/>
          <p:cNvSpPr/>
          <p:nvPr/>
        </p:nvSpPr>
        <p:spPr>
          <a:xfrm>
            <a:off x="4322064" y="1920240"/>
            <a:ext cx="1658112" cy="3108960"/>
          </a:xfrm>
          <a:prstGeom prst="roundRect">
            <a:avLst>
              <a:gd name="adj" fmla="val 4963"/>
            </a:avLst>
          </a:prstGeom>
          <a:solidFill>
            <a:srgbClr val="EEF4FB"/>
          </a:solidFill>
          <a:ln/>
        </p:spPr>
      </p:sp>
      <p:sp>
        <p:nvSpPr>
          <p:cNvPr id="21" name="Shape 18"/>
          <p:cNvSpPr/>
          <p:nvPr/>
        </p:nvSpPr>
        <p:spPr>
          <a:xfrm>
            <a:off x="4876800" y="2148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19"/>
          <p:cNvSpPr/>
          <p:nvPr/>
        </p:nvSpPr>
        <p:spPr>
          <a:xfrm>
            <a:off x="4876800" y="21762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4413504" y="2834640"/>
            <a:ext cx="147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413504" y="3127248"/>
            <a:ext cx="1475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PREPPED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450080" y="3429000"/>
            <a:ext cx="140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pipeline + V2 variant prepped for code review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980176" y="3474720"/>
            <a:ext cx="22860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arrow"/>
          </a:ln>
        </p:spPr>
      </p:sp>
      <p:sp>
        <p:nvSpPr>
          <p:cNvPr id="27" name="Shape 24"/>
          <p:cNvSpPr/>
          <p:nvPr/>
        </p:nvSpPr>
        <p:spPr>
          <a:xfrm>
            <a:off x="6208776" y="1920240"/>
            <a:ext cx="1658112" cy="3108960"/>
          </a:xfrm>
          <a:prstGeom prst="roundRect">
            <a:avLst>
              <a:gd name="adj" fmla="val 4963"/>
            </a:avLst>
          </a:prstGeom>
          <a:solidFill>
            <a:srgbClr val="EEF4FB"/>
          </a:solidFill>
          <a:ln/>
        </p:spPr>
      </p:sp>
      <p:sp>
        <p:nvSpPr>
          <p:cNvPr id="28" name="Shape 25"/>
          <p:cNvSpPr/>
          <p:nvPr/>
        </p:nvSpPr>
        <p:spPr>
          <a:xfrm>
            <a:off x="6763512" y="2148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6"/>
          <p:cNvSpPr/>
          <p:nvPr/>
        </p:nvSpPr>
        <p:spPr>
          <a:xfrm>
            <a:off x="6763512" y="21762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6300216" y="2834640"/>
            <a:ext cx="147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300216" y="3127248"/>
            <a:ext cx="1475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336792" y="3429000"/>
            <a:ext cx="140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mode built into every notebook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866888" y="3474720"/>
            <a:ext cx="22860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arrow"/>
          </a:ln>
        </p:spPr>
      </p:sp>
      <p:sp>
        <p:nvSpPr>
          <p:cNvPr id="34" name="Shape 31"/>
          <p:cNvSpPr/>
          <p:nvPr/>
        </p:nvSpPr>
        <p:spPr>
          <a:xfrm>
            <a:off x="8095488" y="1920240"/>
            <a:ext cx="1658112" cy="3108960"/>
          </a:xfrm>
          <a:prstGeom prst="roundRect">
            <a:avLst>
              <a:gd name="adj" fmla="val 4963"/>
            </a:avLst>
          </a:prstGeom>
          <a:solidFill>
            <a:srgbClr val="EEF4FB"/>
          </a:solidFill>
          <a:ln/>
        </p:spPr>
      </p:sp>
      <p:sp>
        <p:nvSpPr>
          <p:cNvPr id="35" name="Shape 32"/>
          <p:cNvSpPr/>
          <p:nvPr/>
        </p:nvSpPr>
        <p:spPr>
          <a:xfrm>
            <a:off x="8650224" y="2148840"/>
            <a:ext cx="548640" cy="548640"/>
          </a:xfrm>
          <a:prstGeom prst="ellipse">
            <a:avLst/>
          </a:prstGeom>
          <a:solidFill>
            <a:srgbClr val="5A6272"/>
          </a:solidFill>
          <a:ln/>
        </p:spPr>
      </p:sp>
      <p:sp>
        <p:nvSpPr>
          <p:cNvPr id="36" name="Text 33"/>
          <p:cNvSpPr/>
          <p:nvPr/>
        </p:nvSpPr>
        <p:spPr>
          <a:xfrm>
            <a:off x="8650224" y="21762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7" name="Text 34"/>
          <p:cNvSpPr/>
          <p:nvPr/>
        </p:nvSpPr>
        <p:spPr>
          <a:xfrm>
            <a:off x="8186928" y="2834640"/>
            <a:ext cx="147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run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8186928" y="3127248"/>
            <a:ext cx="1475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AWAITS 0–3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8223504" y="3429000"/>
            <a:ext cx="140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config, TUNE→DEVTEST protocol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9753600" y="3474720"/>
            <a:ext cx="22860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arrow"/>
          </a:ln>
        </p:spPr>
      </p:sp>
      <p:sp>
        <p:nvSpPr>
          <p:cNvPr id="41" name="Shape 38"/>
          <p:cNvSpPr/>
          <p:nvPr/>
        </p:nvSpPr>
        <p:spPr>
          <a:xfrm>
            <a:off x="9982200" y="1920240"/>
            <a:ext cx="1658112" cy="3108960"/>
          </a:xfrm>
          <a:prstGeom prst="roundRect">
            <a:avLst>
              <a:gd name="adj" fmla="val 4963"/>
            </a:avLst>
          </a:prstGeom>
          <a:solidFill>
            <a:srgbClr val="EEF4FB"/>
          </a:solidFill>
          <a:ln/>
        </p:spPr>
      </p:sp>
      <p:sp>
        <p:nvSpPr>
          <p:cNvPr id="42" name="Shape 39"/>
          <p:cNvSpPr/>
          <p:nvPr/>
        </p:nvSpPr>
        <p:spPr>
          <a:xfrm>
            <a:off x="10536936" y="2148840"/>
            <a:ext cx="548640" cy="548640"/>
          </a:xfrm>
          <a:prstGeom prst="ellipse">
            <a:avLst/>
          </a:prstGeom>
          <a:solidFill>
            <a:srgbClr val="5A6272"/>
          </a:solidFill>
          <a:ln/>
        </p:spPr>
      </p:sp>
      <p:sp>
        <p:nvSpPr>
          <p:cNvPr id="43" name="Text 40"/>
          <p:cNvSpPr/>
          <p:nvPr/>
        </p:nvSpPr>
        <p:spPr>
          <a:xfrm>
            <a:off x="10536936" y="21762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4" name="Text 41"/>
          <p:cNvSpPr/>
          <p:nvPr/>
        </p:nvSpPr>
        <p:spPr>
          <a:xfrm>
            <a:off x="10073640" y="2834640"/>
            <a:ext cx="147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10073640" y="3127248"/>
            <a:ext cx="1475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CONVENTIONS SET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0110216" y="3429000"/>
            <a:ext cx="140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artifacts, configs, transcripts committed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548640" y="53949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guarantee honored: no proposed-method implementation runs as an experiment until Phases 0 and 1 are approved.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REQUESTED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approvals to unblock Phase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1848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78992" y="1527048"/>
            <a:ext cx="4910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candidate set for H1a — selection strictly by the offline diagnostic (additions welcome)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53288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511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78992" y="2459736"/>
            <a:ext cx="4910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IS21 biasing lists as primary validation/eval (dev via recipe, official test lists at Phase 4; N=100 default) — error-driven as secondary? test-other admissible?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65576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838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78992" y="3392424"/>
            <a:ext cx="4910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calibration corpus — accept measure-then-freeze via the 2×2 alignment grid (§10.3)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39826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4165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78992" y="4325112"/>
            <a:ext cx="4910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— +5 pts margin, U-WER ≤ 1.05×, go/no-go separation ≥ 0.05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160020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161848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02552" y="1527048"/>
            <a:ext cx="4910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trie group-up embedding optimization to a follow-up spec (start naive, validate first)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253288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25511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02552" y="2459736"/>
            <a:ext cx="4910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mechanics — adopt V2 (first-token asymmetry + failure-arc revocation) as P's mechanism, or run as an ablation arm?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72200" y="3465576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34838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02552" y="3392424"/>
            <a:ext cx="4910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the Rule 2 reviewer — required before Phase 1 can pass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4434840"/>
            <a:ext cx="5440680" cy="914400"/>
          </a:xfrm>
          <a:prstGeom prst="roundRect">
            <a:avLst>
              <a:gd name="adj" fmla="val 9000"/>
            </a:avLst>
          </a:prstGeom>
          <a:solidFill>
            <a:srgbClr val="CADCFC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457200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 </a:t>
            </a:r>
            <a:pPr indent="0" marL="0">
              <a:buNone/>
            </a:pPr>
            <a:r>
              <a:rPr lang="en-US" sz="1250" dirty="0">
                <a:solidFill>
                  <a:srgbClr val="26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EXPERIMENT_SPEC.md v0.1 (with your edits) → template diagnostic runs same-day, Phase 1 baseline starts immediately.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6016752"/>
            <a:ext cx="82296" cy="128016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89763" y="5943600"/>
            <a:ext cx="82296" cy="274320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30887" y="5843016"/>
            <a:ext cx="82296" cy="475488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272010" y="5925312"/>
            <a:ext cx="82296" cy="310896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13133" y="5760720"/>
            <a:ext cx="82296" cy="640080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54257" y="5879592"/>
            <a:ext cx="82296" cy="402336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95380" y="5669280"/>
            <a:ext cx="82296" cy="822960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236503" y="5806440"/>
            <a:ext cx="82296" cy="548640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477626" y="5916168"/>
            <a:ext cx="82296" cy="329184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718750" y="5724144"/>
            <a:ext cx="82296" cy="713232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959873" y="5852160"/>
            <a:ext cx="82296" cy="457200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200996" y="5961888"/>
            <a:ext cx="82296" cy="237744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442120" y="5797296"/>
            <a:ext cx="82296" cy="566928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683243" y="5897880"/>
            <a:ext cx="82296" cy="365760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924366" y="5696712"/>
            <a:ext cx="82296" cy="768096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165490" y="5829300"/>
            <a:ext cx="82296" cy="502920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406613" y="5943600"/>
            <a:ext cx="82296" cy="274320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47736" y="5769864"/>
            <a:ext cx="82296" cy="621792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888859" y="587044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129983" y="5980176"/>
            <a:ext cx="82296" cy="201168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371106" y="5815584"/>
            <a:ext cx="82296" cy="530352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612229" y="5715000"/>
            <a:ext cx="82296" cy="731520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853353" y="5888736"/>
            <a:ext cx="82296" cy="384048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094476" y="5788152"/>
            <a:ext cx="82296" cy="585216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335599" y="5925312"/>
            <a:ext cx="82296" cy="310896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576723" y="5742432"/>
            <a:ext cx="82296" cy="676656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817846" y="5852160"/>
            <a:ext cx="82296" cy="457200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058969" y="5952744"/>
            <a:ext cx="82296" cy="256032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300093" y="5806440"/>
            <a:ext cx="82296" cy="548640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541216" y="5678424"/>
            <a:ext cx="82296" cy="804672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782339" y="5897880"/>
            <a:ext cx="82296" cy="365760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023462" y="5779008"/>
            <a:ext cx="82296" cy="603504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264586" y="5943600"/>
            <a:ext cx="82296" cy="274320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505709" y="5843016"/>
            <a:ext cx="82296" cy="475488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746832" y="5733288"/>
            <a:ext cx="82296" cy="694944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987956" y="5879592"/>
            <a:ext cx="82296" cy="402336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229079" y="5971032"/>
            <a:ext cx="82296" cy="219456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470202" y="5824728"/>
            <a:ext cx="82296" cy="512064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711326" y="5916168"/>
            <a:ext cx="82296" cy="329184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952449" y="5760720"/>
            <a:ext cx="82296" cy="640080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10193572" y="5861304"/>
            <a:ext cx="82296" cy="438912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10434695" y="5943600"/>
            <a:ext cx="82296" cy="274320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0675819" y="5797296"/>
            <a:ext cx="82296" cy="566928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10916942" y="5897880"/>
            <a:ext cx="82296" cy="365760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1158065" y="5989320"/>
            <a:ext cx="82296" cy="182880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11399189" y="5852160"/>
            <a:ext cx="82296" cy="457200"/>
          </a:xfrm>
          <a:prstGeom prst="roundRect">
            <a:avLst>
              <a:gd name="adj" fmla="val 44444"/>
            </a:avLst>
          </a:prstGeom>
          <a:solidFill>
            <a:srgbClr val="CADCFC">
              <a:alpha val="75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2026-07-28T00:54:21Z</dcterms:created>
  <dcterms:modified xsi:type="dcterms:W3CDTF">2026-07-28T00:54:21Z</dcterms:modified>
</cp:coreProperties>
</file>