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0 gate per the research policy: no implementation until the lead approves this specification. Deck mirrors EXPERIMENT_SPEC.md v0.1 in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task: biasing lists are legitimate context (contact names, domain vocab). The novelty is the semantic gate; everything else is established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formula is the whole method. Emphasize: one fitted artifact (W), everything else frozen; the lambda=0 property is what makes the comparison clean.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H1a exists because exploratory data showed bare-word embeddings carry no context signal (0.028). It converts the lead's prompt suggestion into a measured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card: measurement then consequence. The spec is not speculative — every constraint traces to a number we already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failure is the spec's origin story: every safeguard in sections 3, 5, 7 exists because of this table. V2 processor (potential-based revocation, first-token asymmetry) is implemented and unit-verified — decision 6 asks whether to adopt it as P's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the cache-parity fix: exploratory runs had P at use_cache=False vs baselines cached — a Rule 1 violation we caught and froze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Decision 2 on the closing slide asks which keyword protocol is primary. The disclosure is deliberate — better we flag the burned split than an auditor.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Rule 1 heart: the conditions table maps one-to-one onto the policy's 'should not be changed without approval' list.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lead's question #2: exact correct-match definition, dataset choice, and the metrics that expose vandalism, not just recovery.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Pre-registration is the antidote to the dev/eval reversal we saw in exploration: 15 dev utterances said delta=3 was safe; 60 eval utterances said otherwise. Thresholds themselves are decision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Message: approval unblocks immediate, low-risk execution — the diagnostic answers question 1 the same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2x2 decomposition: corpus effect ~3-8 points; conditioning effect ~70 points and asymmetric. W_audio dominates the grid. Text-only LS prefix collapse (0.06/0.13 at 25%) shows early utterance text alone is uninformative on LibriSpeech — cross-attention supplies the missing whole-utterance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Phases 2/3 being 'prepped' is exploratory authoring, not experiment execution — nothing reportable runs before approvals.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decisions, not summary. Each maps to spec section 10; minute the outcomes and update the spec to v1.0 for the audit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2344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EXPERIMENT DESIGN REVIEW — RESEARCH POLICY RULE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0020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Zero-Shot Contextual Biasing for Whisper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548640" y="23957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 shallow fusion + SONAR semantic gating — no model training anywhere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730752"/>
            <a:ext cx="82296" cy="12801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789763" y="3657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030887" y="3557016"/>
            <a:ext cx="82296" cy="47548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272010" y="3639312"/>
            <a:ext cx="82296" cy="3108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513133" y="3474720"/>
            <a:ext cx="82296" cy="6400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754257" y="3593592"/>
            <a:ext cx="82296" cy="40233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995380" y="3383280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236503" y="3520440"/>
            <a:ext cx="82296" cy="54864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477626" y="3630168"/>
            <a:ext cx="82296" cy="32918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2718750" y="3438144"/>
            <a:ext cx="82296" cy="71323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2959873" y="3566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200996" y="3675888"/>
            <a:ext cx="82296" cy="23774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442120" y="3511296"/>
            <a:ext cx="82296" cy="56692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683243" y="3611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924366" y="3410712"/>
            <a:ext cx="82296" cy="7680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4165490" y="3543300"/>
            <a:ext cx="82296" cy="5029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4406613" y="3657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4647736" y="3483864"/>
            <a:ext cx="82296" cy="62179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4888859" y="358444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29983" y="3694176"/>
            <a:ext cx="82296" cy="20116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371106" y="3529584"/>
            <a:ext cx="82296" cy="53035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612229" y="3429000"/>
            <a:ext cx="82296" cy="7315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853353" y="3602736"/>
            <a:ext cx="82296" cy="38404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6094476" y="3502152"/>
            <a:ext cx="82296" cy="58521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6335599" y="3639312"/>
            <a:ext cx="82296" cy="3108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6576723" y="3456432"/>
            <a:ext cx="82296" cy="67665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6817846" y="3566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058969" y="3666744"/>
            <a:ext cx="82296" cy="25603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7300093" y="3520440"/>
            <a:ext cx="82296" cy="54864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7541216" y="3392424"/>
            <a:ext cx="82296" cy="80467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7782339" y="3611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8023462" y="3493008"/>
            <a:ext cx="82296" cy="60350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8264586" y="3657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8505709" y="3557016"/>
            <a:ext cx="82296" cy="47548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746832" y="3447288"/>
            <a:ext cx="82296" cy="69494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8987956" y="3593592"/>
            <a:ext cx="82296" cy="40233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9229079" y="3685032"/>
            <a:ext cx="82296" cy="21945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9470202" y="3538728"/>
            <a:ext cx="82296" cy="51206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9711326" y="3630168"/>
            <a:ext cx="82296" cy="32918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9952449" y="3474720"/>
            <a:ext cx="82296" cy="6400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10193572" y="3575304"/>
            <a:ext cx="82296" cy="43891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10434695" y="3657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10675819" y="3511296"/>
            <a:ext cx="82296" cy="56692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916942" y="3611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11158065" y="3703320"/>
            <a:ext cx="82296" cy="1828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11399189" y="3566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1" name="Text 49"/>
          <p:cNvSpPr/>
          <p:nvPr/>
        </p:nvSpPr>
        <p:spPr>
          <a:xfrm>
            <a:off x="548640" y="48920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Implementer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Murugan Rajenthiran      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TBD (Rule 2)      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EXPERIMENT_SPEC.md v0.1      </a:t>
            </a:r>
            <a:pPr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2026-07-28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548640" y="52578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Requesting approval of: hypothesis · baselines · dataset &amp; split · evaluation method · frozen experimental conditions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and this phase's question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1700784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15568" y="1545336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words are where Whisper fails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1115568" y="1801368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drug names, product terms — underrepresented in training data, and exactly the words users care about most.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48640" y="26060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70662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15568" y="2551176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biasing is the standard remedy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115568" y="2807208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keyword list supplied at inference nudges beam search toward expected words (shallow fusion — no training).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48640" y="361188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3712464"/>
            <a:ext cx="219456" cy="21945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15568" y="3557016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constraint: fully zero-shot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1115568" y="3813048"/>
            <a:ext cx="4828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Whisper, frozen SONAR, one fixed linear map W fitted offline. No fine-tuning anywhere in the pipeline.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548640" y="457200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EEF4FB"/>
          </a:solidFill>
          <a:ln/>
        </p:spPr>
      </p:sp>
      <p:sp>
        <p:nvSpPr>
          <p:cNvPr id="19" name="Text 13"/>
          <p:cNvSpPr/>
          <p:nvPr/>
        </p:nvSpPr>
        <p:spPr>
          <a:xfrm>
            <a:off x="822960" y="4773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822960" y="507492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a semantic gate make trie biasing precise — boosting keywords the utterance context supports while suppressing the rest of the list?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6492240" y="1600200"/>
            <a:ext cx="5074920" cy="4663440"/>
          </a:xfrm>
          <a:prstGeom prst="roundRect">
            <a:avLst>
              <a:gd name="adj" fmla="val 1765"/>
            </a:avLst>
          </a:prstGeom>
          <a:solidFill>
            <a:srgbClr val="EEF4FB"/>
          </a:solidFill>
          <a:ln/>
        </p:spPr>
      </p:sp>
      <p:sp>
        <p:nvSpPr>
          <p:cNvPr id="22" name="Shape 16"/>
          <p:cNvSpPr/>
          <p:nvPr/>
        </p:nvSpPr>
        <p:spPr>
          <a:xfrm>
            <a:off x="6903720" y="1828800"/>
            <a:ext cx="425196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086600" y="192024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7086600" y="219456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log-mel → frozen Whisper encoder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9029700" y="2578608"/>
            <a:ext cx="0" cy="329184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arrow"/>
          </a:ln>
        </p:spPr>
      </p:sp>
      <p:sp>
        <p:nvSpPr>
          <p:cNvPr id="26" name="Shape 20"/>
          <p:cNvSpPr/>
          <p:nvPr/>
        </p:nvSpPr>
        <p:spPr>
          <a:xfrm>
            <a:off x="6903720" y="2907792"/>
            <a:ext cx="425196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086600" y="29992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Beam search (frozen decoder)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086600" y="32735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BPE token per step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9029700" y="3657600"/>
            <a:ext cx="0" cy="329184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arrow"/>
          </a:ln>
        </p:spPr>
      </p:sp>
      <p:sp>
        <p:nvSpPr>
          <p:cNvPr id="30" name="Shape 24"/>
          <p:cNvSpPr/>
          <p:nvPr/>
        </p:nvSpPr>
        <p:spPr>
          <a:xfrm>
            <a:off x="6903720" y="3986784"/>
            <a:ext cx="425196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086600" y="407822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bias term on logits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086600" y="435254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 says WHERE · SONAR gate says HOW MUCH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9029700" y="4736592"/>
            <a:ext cx="0" cy="329184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arrow"/>
          </a:ln>
        </p:spPr>
      </p:sp>
      <p:sp>
        <p:nvSpPr>
          <p:cNvPr id="34" name="Shape 28"/>
          <p:cNvSpPr/>
          <p:nvPr/>
        </p:nvSpPr>
        <p:spPr>
          <a:xfrm>
            <a:off x="6903720" y="5065776"/>
            <a:ext cx="425196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086600" y="515721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7086600" y="5431536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rare words recovered, others untouched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METHOD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added term inside the decoding loop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11091672" cy="1234440"/>
          </a:xfrm>
          <a:prstGeom prst="roundRect">
            <a:avLst>
              <a:gd name="adj" fmla="val 6667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93852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boost(token)  =  </a:t>
            </a:r>
            <a:pPr algn="ctr"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+  </a:t>
            </a:r>
            <a:pPr algn="ctr" indent="0" marL="0">
              <a:buNone/>
            </a:pPr>
            <a:r>
              <a:rPr lang="en-US" sz="2600" b="1" dirty="0">
                <a:solidFill>
                  <a:srgbClr val="8E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λ · max(0, cos( state · W ,  E</a:t>
            </a:r>
            <a:pPr algn="ctr" indent="0" marL="0">
              <a:buNone/>
            </a:pPr>
            <a:r>
              <a:rPr lang="en-US" sz="2600" b="1" baseline="-40000" dirty="0">
                <a:solidFill>
                  <a:srgbClr val="8E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keyword</a:t>
            </a:r>
            <a:pPr algn="ctr" indent="0" marL="0">
              <a:buNone/>
            </a:pPr>
            <a:r>
              <a:rPr lang="en-US" sz="2600" b="1" dirty="0">
                <a:solidFill>
                  <a:srgbClr val="8EE3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))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48640" y="3154680"/>
            <a:ext cx="3514344" cy="2286000"/>
          </a:xfrm>
          <a:prstGeom prst="roundRect">
            <a:avLst>
              <a:gd name="adj" fmla="val 3600"/>
            </a:avLst>
          </a:prstGeom>
          <a:solidFill>
            <a:srgbClr val="EEF4FB"/>
          </a:solidFill>
          <a:ln/>
        </p:spPr>
      </p:sp>
      <p:sp>
        <p:nvSpPr>
          <p:cNvPr id="9" name="Shape 6"/>
          <p:cNvSpPr/>
          <p:nvPr/>
        </p:nvSpPr>
        <p:spPr>
          <a:xfrm>
            <a:off x="777240" y="3364992"/>
            <a:ext cx="182880" cy="182880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10" name="Text 7"/>
          <p:cNvSpPr/>
          <p:nvPr/>
        </p:nvSpPr>
        <p:spPr>
          <a:xfrm>
            <a:off x="1051560" y="3310128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— the trie (WHERE)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777240" y="3703320"/>
            <a:ext cx="3057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BPE-token trie over the list; 4 surface forms per word (±case × ±leading space); suffix-matched per beam per step; empty suffix = new word may start.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37304" y="3154680"/>
            <a:ext cx="3514344" cy="2286000"/>
          </a:xfrm>
          <a:prstGeom prst="roundRect">
            <a:avLst>
              <a:gd name="adj" fmla="val 3600"/>
            </a:avLst>
          </a:prstGeom>
          <a:solidFill>
            <a:srgbClr val="EEF4FB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5904" y="3364992"/>
            <a:ext cx="182880" cy="182880"/>
          </a:xfrm>
          <a:prstGeom prst="ellipse">
            <a:avLst/>
          </a:prstGeom>
          <a:solidFill>
            <a:srgbClr val="8EE3C8"/>
          </a:solidFill>
          <a:ln/>
        </p:spPr>
      </p:sp>
      <p:sp>
        <p:nvSpPr>
          <p:cNvPr id="14" name="Text 11"/>
          <p:cNvSpPr/>
          <p:nvPr/>
        </p:nvSpPr>
        <p:spPr>
          <a:xfrm>
            <a:off x="4840224" y="3310128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λ·cos — the gate (HOW MUCH)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65904" y="3703320"/>
            <a:ext cx="3057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layer-4 state, pooled → projected by W into SONAR space → cosine vs each keyword embedding. Relevant words boosted hard, distractors suppressed.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8125968" y="3154680"/>
            <a:ext cx="3514344" cy="2286000"/>
          </a:xfrm>
          <a:prstGeom prst="roundRect">
            <a:avLst>
              <a:gd name="adj" fmla="val 3600"/>
            </a:avLst>
          </a:prstGeom>
          <a:solidFill>
            <a:srgbClr val="EEF4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354568" y="3364992"/>
            <a:ext cx="182880" cy="182880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8" name="Text 15"/>
          <p:cNvSpPr/>
          <p:nvPr/>
        </p:nvSpPr>
        <p:spPr>
          <a:xfrm>
            <a:off x="8628888" y="3310128"/>
            <a:ext cx="2782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— the bridge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8354568" y="3703320"/>
            <a:ext cx="305714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512×1024 matrix, ridge-fitted once on frozen models (validated: ≈100% held-out retrieval). The only fitted artifact; checksummed and frozen.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48640" y="566928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E7F3EC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583387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ablation by construction:  </a:t>
            </a:r>
            <a:pPr indent="0" marL="0">
              <a:buNone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= 0 reduces the proposed method to trie-only exactly. Baseline and proposal differ by this one term and nothing else (Rule 1).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§1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Hypotheses — primary, offline-testable, and null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3514344" cy="402336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92024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2E7D52"/>
          </a:solidFill>
          <a:ln/>
        </p:spPr>
      </p:sp>
      <p:sp>
        <p:nvSpPr>
          <p:cNvPr id="8" name="Text 5"/>
          <p:cNvSpPr/>
          <p:nvPr/>
        </p:nvSpPr>
        <p:spPr>
          <a:xfrm>
            <a:off x="777240" y="1938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primary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2514600"/>
            <a:ext cx="3057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gating beats trie-only: keyword recall +≥5 pts absolute at equal-or-better U-WER and false alarms, on both dev splits.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443484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in Phase 4 under the pre-registered operating-point rule.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7304" y="1691640"/>
            <a:ext cx="3514344" cy="402336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12" name="Shape 9"/>
          <p:cNvSpPr/>
          <p:nvPr/>
        </p:nvSpPr>
        <p:spPr>
          <a:xfrm>
            <a:off x="4565904" y="192024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4565904" y="1938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H1a — embedding side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4565904" y="2514600"/>
            <a:ext cx="3057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Prompt-templated keyword embeddings (e.g. “A speech that includes ‘{kw}’”) separate in-context keywords from distractors far better than bare words.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565904" y="443484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Testable offline in minutes — no ASR decoding. Answers the lead's question #1 by measurement, and gates H1 (go/no-go: separation ≥ 0.05).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125968" y="1691640"/>
            <a:ext cx="3514344" cy="402336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17" name="Shape 14"/>
          <p:cNvSpPr/>
          <p:nvPr/>
        </p:nvSpPr>
        <p:spPr>
          <a:xfrm>
            <a:off x="8354568" y="1920240"/>
            <a:ext cx="1737360" cy="402336"/>
          </a:xfrm>
          <a:prstGeom prst="roundRect">
            <a:avLst>
              <a:gd name="adj" fmla="val 50000"/>
            </a:avLst>
          </a:prstGeom>
          <a:solidFill>
            <a:srgbClr val="C94141"/>
          </a:solidFill>
          <a:ln/>
        </p:spPr>
      </p:sp>
      <p:sp>
        <p:nvSpPr>
          <p:cNvPr id="18" name="Text 15"/>
          <p:cNvSpPr/>
          <p:nvPr/>
        </p:nvSpPr>
        <p:spPr>
          <a:xfrm>
            <a:off x="8354568" y="19385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H0 — null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354568" y="2514600"/>
            <a:ext cx="305714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biasing ≈ trie-only at matched operating points: the gate adds no information.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354568" y="4434840"/>
            <a:ext cx="3057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so: documented negative result; redesign targets the embedding side, not λ.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SPEC LOOKS THIS WAY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evidence behind every safeguard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11091672" cy="457200"/>
          </a:xfrm>
          <a:prstGeom prst="roundRect">
            <a:avLst>
              <a:gd name="adj" fmla="val 18000"/>
            </a:avLst>
          </a:prstGeom>
          <a:solidFill>
            <a:srgbClr val="FBF3DE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72768"/>
            <a:ext cx="256032" cy="256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1572768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Pre-Phase-0 exploratory numbers — motivation only (spec §9). Not for reporting, publication, or patent discussion.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2148840"/>
            <a:ext cx="2567178" cy="3794760"/>
          </a:xfrm>
          <a:prstGeom prst="roundRect">
            <a:avLst>
              <a:gd name="adj" fmla="val 3206"/>
            </a:avLst>
          </a:prstGeom>
          <a:solidFill>
            <a:srgbClr val="EEF4FB"/>
          </a:solidFill>
          <a:ln/>
        </p:spPr>
      </p:sp>
      <p:sp>
        <p:nvSpPr>
          <p:cNvPr id="10" name="Text 6"/>
          <p:cNvSpPr/>
          <p:nvPr/>
        </p:nvSpPr>
        <p:spPr>
          <a:xfrm>
            <a:off x="731520" y="2377440"/>
            <a:ext cx="220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7D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≈100%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731520" y="3154680"/>
            <a:ext cx="22014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sentence retrieval, Whisper→SONAR linear map (layer 4; prefix probe 0.29 → 1.00)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31520" y="4617720"/>
            <a:ext cx="22014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 W exists — the design's riskiest assumption survived first.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390138" y="2148840"/>
            <a:ext cx="2567178" cy="3794760"/>
          </a:xfrm>
          <a:prstGeom prst="roundRect">
            <a:avLst>
              <a:gd name="adj" fmla="val 3206"/>
            </a:avLst>
          </a:prstGeom>
          <a:solidFill>
            <a:srgbClr val="EEF4FB"/>
          </a:solidFill>
          <a:ln/>
        </p:spPr>
      </p:sp>
      <p:sp>
        <p:nvSpPr>
          <p:cNvPr id="14" name="Text 10"/>
          <p:cNvSpPr/>
          <p:nvPr/>
        </p:nvSpPr>
        <p:spPr>
          <a:xfrm>
            <a:off x="3573018" y="2377440"/>
            <a:ext cx="220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41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0.028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3573018" y="3154680"/>
            <a:ext cx="22014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gate separation with bare-word embeddings (in-context vs distractor)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3573018" y="4617720"/>
            <a:ext cx="22014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signal to gate on → H1a prompt templates; go/no-go pre-check before any decoding.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6231636" y="2148840"/>
            <a:ext cx="2567178" cy="3794760"/>
          </a:xfrm>
          <a:prstGeom prst="roundRect">
            <a:avLst>
              <a:gd name="adj" fmla="val 3206"/>
            </a:avLst>
          </a:prstGeom>
          <a:solidFill>
            <a:srgbClr val="EEF4FB"/>
          </a:solidFill>
          <a:ln/>
        </p:spPr>
      </p:sp>
      <p:sp>
        <p:nvSpPr>
          <p:cNvPr id="18" name="Text 14"/>
          <p:cNvSpPr/>
          <p:nvPr/>
        </p:nvSpPr>
        <p:spPr>
          <a:xfrm>
            <a:off x="6414516" y="2377440"/>
            <a:ext cx="220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E7D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→ 0.52</a:t>
            </a:r>
            <a:endParaRPr lang="en-US" sz="3000" dirty="0"/>
          </a:p>
        </p:txBody>
      </p:sp>
      <p:sp>
        <p:nvSpPr>
          <p:cNvPr id="19" name="Text 15"/>
          <p:cNvSpPr/>
          <p:nvPr/>
        </p:nvSpPr>
        <p:spPr>
          <a:xfrm>
            <a:off x="6414516" y="3154680"/>
            <a:ext cx="22014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 certified baseline failures, trie-only shallow fusion at δ=3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6414516" y="4617720"/>
            <a:ext cx="22014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trie mechanism genuinely recovers words Whisper provably lost.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9073134" y="2148840"/>
            <a:ext cx="2567178" cy="3794760"/>
          </a:xfrm>
          <a:prstGeom prst="roundRect">
            <a:avLst>
              <a:gd name="adj" fmla="val 3206"/>
            </a:avLst>
          </a:prstGeom>
          <a:solidFill>
            <a:srgbClr val="EEF4FB"/>
          </a:solidFill>
          <a:ln/>
        </p:spPr>
      </p:sp>
      <p:sp>
        <p:nvSpPr>
          <p:cNvPr id="22" name="Text 18"/>
          <p:cNvSpPr/>
          <p:nvPr/>
        </p:nvSpPr>
        <p:spPr>
          <a:xfrm>
            <a:off x="9256014" y="2377440"/>
            <a:ext cx="2201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41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0.128 → 0.700</a:t>
            </a:r>
            <a:endParaRPr lang="en-US" sz="3000" dirty="0"/>
          </a:p>
        </p:txBody>
      </p:sp>
      <p:sp>
        <p:nvSpPr>
          <p:cNvPr id="23" name="Text 19"/>
          <p:cNvSpPr/>
          <p:nvPr/>
        </p:nvSpPr>
        <p:spPr>
          <a:xfrm>
            <a:off x="9256014" y="3154680"/>
            <a:ext cx="22014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U-WER at that same δ — unconstrained boosting vandalizes unbiased words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9256014" y="4617720"/>
            <a:ext cx="22014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pre-registered U-WER budget, error-driven mining, boost-mechanics fixes.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INSTRUCTIVE FAILURE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Unconstrained boosting: recall up, transcript ruined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U-WER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 trie δ=3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41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941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 trie+gate (bare words)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36576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B everywhere — exactly what the 0.028 oracle separation predicted for bare-word gating.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309360" y="178308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FBEAEA"/>
          </a:solidFill>
          <a:ln/>
        </p:spPr>
      </p:sp>
      <p:sp>
        <p:nvSpPr>
          <p:cNvPr id="9" name="Text 5"/>
          <p:cNvSpPr/>
          <p:nvPr/>
        </p:nvSpPr>
        <p:spPr>
          <a:xfrm>
            <a:off x="6537960" y="1965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1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damage looks like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537960" y="22860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6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   </a:t>
            </a:r>
            <a:pPr indent="0" marL="0">
              <a:buNone/>
            </a:pPr>
            <a:r>
              <a:rPr lang="en-US" sz="1150" dirty="0">
                <a:solidFill>
                  <a:srgbClr val="262B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…WE ARE HUSBANDMEN AND TILLERS OF THE SOIL…
</a:t>
            </a:r>
            <a:pPr indent="0" marL="0">
              <a:buNone/>
            </a:pPr>
            <a:r>
              <a:rPr lang="en-US" sz="1150" b="1" dirty="0">
                <a:solidFill>
                  <a:srgbClr val="5A62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  </a:t>
            </a:r>
            <a:pPr indent="0" marL="0">
              <a:buNone/>
            </a:pPr>
            <a:r>
              <a:rPr lang="en-US" sz="1150" dirty="0">
                <a:solidFill>
                  <a:srgbClr val="C941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…he, Wea Husspundman and Tillers of the soil…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6537960" y="306324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1 — word-start distortion field: </a:t>
            </a:r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tokens of every list word get +δ at every word boundary.
</a:t>
            </a:r>
            <a:pPr indent="0" marL="0">
              <a:buNone/>
            </a:pPr>
            <a:r>
              <a:rPr lang="en-US" sz="11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2 — orphaned fragments: </a:t>
            </a:r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abandoned partial matches keep their earned bonus (no revocation).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8640" y="4892040"/>
            <a:ext cx="3514344" cy="1051560"/>
          </a:xfrm>
          <a:prstGeom prst="roundRect">
            <a:avLst>
              <a:gd name="adj" fmla="val 7826"/>
            </a:avLst>
          </a:prstGeom>
          <a:solidFill>
            <a:srgbClr val="E7F3EC"/>
          </a:solidFill>
          <a:ln/>
        </p:spPr>
      </p:sp>
      <p:sp>
        <p:nvSpPr>
          <p:cNvPr id="13" name="Shape 9"/>
          <p:cNvSpPr/>
          <p:nvPr/>
        </p:nvSpPr>
        <p:spPr>
          <a:xfrm>
            <a:off x="749808" y="5074920"/>
            <a:ext cx="384048" cy="384048"/>
          </a:xfrm>
          <a:prstGeom prst="ellipse">
            <a:avLst/>
          </a:prstGeom>
          <a:solidFill>
            <a:srgbClr val="2E7D52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5166360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61872" y="5029200"/>
            <a:ext cx="2599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U-WER-constrained operating points (§7)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337304" y="4892040"/>
            <a:ext cx="3514344" cy="1051560"/>
          </a:xfrm>
          <a:prstGeom prst="roundRect">
            <a:avLst>
              <a:gd name="adj" fmla="val 7826"/>
            </a:avLst>
          </a:prstGeom>
          <a:solidFill>
            <a:srgbClr val="E7F3EC"/>
          </a:solidFill>
          <a:ln/>
        </p:spPr>
      </p:sp>
      <p:sp>
        <p:nvSpPr>
          <p:cNvPr id="17" name="Shape 12"/>
          <p:cNvSpPr/>
          <p:nvPr/>
        </p:nvSpPr>
        <p:spPr>
          <a:xfrm>
            <a:off x="4538472" y="5074920"/>
            <a:ext cx="384048" cy="384048"/>
          </a:xfrm>
          <a:prstGeom prst="ellipse">
            <a:avLst/>
          </a:prstGeom>
          <a:solidFill>
            <a:srgbClr val="2E7D5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9912" y="5166360"/>
            <a:ext cx="201168" cy="20116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050536" y="5029200"/>
            <a:ext cx="2599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Error-driven target mining — certified headroom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8125968" y="4892040"/>
            <a:ext cx="3514344" cy="1051560"/>
          </a:xfrm>
          <a:prstGeom prst="roundRect">
            <a:avLst>
              <a:gd name="adj" fmla="val 7826"/>
            </a:avLst>
          </a:prstGeom>
          <a:solidFill>
            <a:srgbClr val="E7F3EC"/>
          </a:solidFill>
          <a:ln/>
        </p:spPr>
      </p:sp>
      <p:sp>
        <p:nvSpPr>
          <p:cNvPr id="21" name="Shape 15"/>
          <p:cNvSpPr/>
          <p:nvPr/>
        </p:nvSpPr>
        <p:spPr>
          <a:xfrm>
            <a:off x="8327136" y="5074920"/>
            <a:ext cx="384048" cy="384048"/>
          </a:xfrm>
          <a:prstGeom prst="ellipse">
            <a:avLst/>
          </a:prstGeom>
          <a:solidFill>
            <a:srgbClr val="2E7D5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576" y="5166360"/>
            <a:ext cx="201168" cy="20116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8839200" y="5029200"/>
            <a:ext cx="2599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Boost-mechanics V2 implemented &amp; unit-verified (decision 6)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§2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 and the proposed method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1672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937760"/>
                <a:gridCol w="54223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the experiment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Whisper beam search — no biasing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Absolute reference; source of error-driven keyword mining; Phase 1 reproduces 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 shallow fusion — boost δ per continuing token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established method the proposal must beat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B1 + semantic gate — δ + λ·max(0, cos(state·W, E_kw))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novel claim; λ = 0 recovers B1 exactly (built-in ablation)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29768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EEF4FB"/>
          </a:solidFill>
          <a:ln/>
        </p:spPr>
      </p:sp>
      <p:sp>
        <p:nvSpPr>
          <p:cNvPr id="8" name="Text 4"/>
          <p:cNvSpPr/>
          <p:nvPr/>
        </p:nvSpPr>
        <p:spPr>
          <a:xfrm>
            <a:off x="822960" y="44988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Comparability guarantees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22960" y="4800600"/>
            <a:ext cx="10543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Identical decoding for all three conditions — including KV-cache OFF everywhere (P needs full-sequence states; B0/B1 match to kill the confound found in exploratory runs).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bias term inside one LogitsProcessor is the only permitted difference; anything else requires re-approval under Rule 1.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Two-stage tuning on TUNE shard only: pick δ* with λ=0, then λ* at δ* — B1 is never handicapped.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split — develop on dev, keep test untouched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48640" y="157276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LibriSpeech dev-clean + dev-other (per your instruction) · streamed, never fully downloaded · utterances &gt; 29 s excluded and counted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2057400"/>
            <a:ext cx="2772918" cy="640080"/>
          </a:xfrm>
          <a:prstGeom prst="roundRect">
            <a:avLst>
              <a:gd name="adj" fmla="val 8571"/>
            </a:avLst>
          </a:prstGeom>
          <a:solidFill>
            <a:srgbClr val="1E2761"/>
          </a:solidFill>
          <a:ln/>
        </p:spPr>
      </p:sp>
      <p:sp>
        <p:nvSpPr>
          <p:cNvPr id="8" name="Shape 5"/>
          <p:cNvSpPr/>
          <p:nvPr/>
        </p:nvSpPr>
        <p:spPr>
          <a:xfrm>
            <a:off x="3376422" y="2057400"/>
            <a:ext cx="8263890" cy="640080"/>
          </a:xfrm>
          <a:prstGeom prst="roundRect">
            <a:avLst>
              <a:gd name="adj" fmla="val 8571"/>
            </a:avLst>
          </a:prstGeom>
          <a:solidFill>
            <a:srgbClr val="CADCF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2167128"/>
            <a:ext cx="27729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25% — δ, λ, template selection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321558" y="2167128"/>
            <a:ext cx="83187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DEVTEST 75% — development-time reporting (untouched during tuning)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28346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Shard rule (frozen): sorted(ids) → Random(42).shuffle → first 25% = TUNE. Computed on unfiltered ID lists; SHA-256 of membership printed and matched across every notebook.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5394960" cy="1920240"/>
          </a:xfrm>
          <a:prstGeom prst="roundRect">
            <a:avLst>
              <a:gd name="adj" fmla="val 4286"/>
            </a:avLst>
          </a:prstGeom>
          <a:solidFill>
            <a:srgbClr val="EEF4F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3657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IS21 deep-biasing benchmark (Le et al., Interspeech'21)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3950208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Per-utterance rare-word lists (outside the 5k most frequent training words) + distractor variants N ∈ {100, 500, 1000}; N=100 for tuning. Dev lists rebuilt with the benchmark recipe; official test lists reserved for Phase 4 → numbers directly comparable with published deep-biasing results.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309360" y="347472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EEF4FB"/>
          </a:solidFill>
          <a:ln/>
        </p:spPr>
      </p:sp>
      <p:sp>
        <p:nvSpPr>
          <p:cNvPr id="16" name="Text 13"/>
          <p:cNvSpPr/>
          <p:nvPr/>
        </p:nvSpPr>
        <p:spPr>
          <a:xfrm>
            <a:off x="6537960" y="36576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lists — secondary (headroom view)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37960" y="3950208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Corpus-level error-driven lists: words B0 provably substituted/deleted, rarity-filtered, + equal distractors. Guarantees measurable headroom — text-rarity mining alone gave baseline recall 0.983 (nothing to measure).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562356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/>
        </p:spPr>
      </p:sp>
      <p:sp>
        <p:nvSpPr>
          <p:cNvPr id="19" name="Text 16"/>
          <p:cNvSpPr/>
          <p:nvPr/>
        </p:nvSpPr>
        <p:spPr>
          <a:xfrm>
            <a:off x="822960" y="5779008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41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(spec §9):  </a:t>
            </a:r>
            <a:pPr indent="0" marL="0">
              <a:buNone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mining touched test-other → that split is quarantined for final reporting. All development now on dev splits; test-clean/test-other frozen until an approved Phase 4 run.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§4 &amp; §6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Frozen configuration — what can and cannot differ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73152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frozen value (B0 = B1 = 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openai/whisper-base — HF revision pinned in artifacts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beam 5 · deterministic · language/task pinned (en, transcribe) · no timestamps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KV cache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disabled for ALL conditions (parity with P's state capture)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Preprocessing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 kHz mono · identical feature extraction · ≤ 29 s filter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shared normalization (lowercase [a-z' ]) · jiwer version pinned · fixed attribution rules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Seeds &amp; shards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 42 everywhere · shard membership recorded + SHA-256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Calibration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fitted once before Phase 3, checksummed, never refit (corpus = decision 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8229600" y="1737360"/>
            <a:ext cx="3337560" cy="3291840"/>
          </a:xfrm>
          <a:prstGeom prst="roundRect">
            <a:avLst>
              <a:gd name="adj" fmla="val 2500"/>
            </a:avLst>
          </a:prstGeom>
          <a:solidFill>
            <a:srgbClr val="EEF4FB"/>
          </a:solidFill>
          <a:ln/>
        </p:spPr>
      </p:sp>
      <p:sp>
        <p:nvSpPr>
          <p:cNvPr id="8" name="Text 4"/>
          <p:cNvSpPr/>
          <p:nvPr/>
        </p:nvSpPr>
        <p:spPr>
          <a:xfrm>
            <a:off x="8458200" y="19385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 to differ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458200" y="224028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 (B1, P)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 (P only)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keyword-list contents per protocol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8458200" y="356616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else changing mid-experiment = re-approval under Rule 1.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§5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metrics — recall alone is not success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737360"/>
            <a:ext cx="5408676" cy="1965960"/>
          </a:xfrm>
          <a:prstGeom prst="roundRect">
            <a:avLst>
              <a:gd name="adj" fmla="val 4186"/>
            </a:avLst>
          </a:prstGeom>
          <a:solidFill>
            <a:srgbClr val="EEF4FB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196596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2066544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25880" y="2011680"/>
            <a:ext cx="44028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recall (primary)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1325880" y="2359152"/>
            <a:ext cx="43571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Occurrence-level via jiwer word alignment: a hit only if the keyword sits in an equal chunk. No substring credit ('king' ≠ 'kingsman'); multi-word entries need contiguous alignment.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231636" y="1737360"/>
            <a:ext cx="5408676" cy="1965960"/>
          </a:xfrm>
          <a:prstGeom prst="roundRect">
            <a:avLst>
              <a:gd name="adj" fmla="val 4186"/>
            </a:avLst>
          </a:prstGeom>
          <a:solidFill>
            <a:srgbClr val="EEF4FB"/>
          </a:solidFill>
          <a:ln/>
        </p:spPr>
      </p:sp>
      <p:sp>
        <p:nvSpPr>
          <p:cNvPr id="12" name="Shape 8"/>
          <p:cNvSpPr/>
          <p:nvPr/>
        </p:nvSpPr>
        <p:spPr>
          <a:xfrm>
            <a:off x="6460236" y="196596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0820" y="2066544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08876" y="2011680"/>
            <a:ext cx="44028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B-WER / U-WER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7008876" y="2359152"/>
            <a:ext cx="43571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split by reference word (biased vs unbiased); insertions by hypothesis word — the IS21 benchmark's own protocol, so results are comparable with published work. U-WER is the collateral-damage meter and the tuning constraint.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8640" y="3977640"/>
            <a:ext cx="5408676" cy="1965960"/>
          </a:xfrm>
          <a:prstGeom prst="roundRect">
            <a:avLst>
              <a:gd name="adj" fmla="val 4186"/>
            </a:avLst>
          </a:prstGeom>
          <a:solidFill>
            <a:srgbClr val="EEF4FB"/>
          </a:solidFill>
          <a:ln/>
        </p:spPr>
      </p:sp>
      <p:sp>
        <p:nvSpPr>
          <p:cNvPr id="17" name="Shape 12"/>
          <p:cNvSpPr/>
          <p:nvPr/>
        </p:nvSpPr>
        <p:spPr>
          <a:xfrm>
            <a:off x="777240" y="42062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306824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25880" y="4251960"/>
            <a:ext cx="44028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alarms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1325880" y="4599432"/>
            <a:ext cx="43571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words inserted where the reference has none. Meaningful because every list is ~50% distractors — the population the gate must suppress.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6231636" y="3977640"/>
            <a:ext cx="5408676" cy="1965960"/>
          </a:xfrm>
          <a:prstGeom prst="roundRect">
            <a:avLst>
              <a:gd name="adj" fmla="val 4186"/>
            </a:avLst>
          </a:prstGeom>
          <a:solidFill>
            <a:srgbClr val="EEF4FB"/>
          </a:solidFill>
          <a:ln/>
        </p:spPr>
      </p:sp>
      <p:sp>
        <p:nvSpPr>
          <p:cNvPr id="22" name="Shape 16"/>
          <p:cNvSpPr/>
          <p:nvPr/>
        </p:nvSpPr>
        <p:spPr>
          <a:xfrm>
            <a:off x="6460236" y="42062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820" y="4306824"/>
            <a:ext cx="219456" cy="219456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008876" y="4251960"/>
            <a:ext cx="44028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gate separation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7008876" y="4599432"/>
            <a:ext cx="43571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cos(kw, own-utterance embedding) − mean cos(distractor, utterances). Selects the H1a template and gates condition P (go/no-go ≥ 0.05).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548640" y="5943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metrics per split (dev-clean, dev-other) with utterance and occurrence counts alongside every rate — differences under ~20 occurrences are treated as noise.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§7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 success and failure criteria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EF4FB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874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Operating-point rule (TUNE only, fixed before any eval):  </a:t>
            </a:r>
            <a:pPr indent="0" marL="0">
              <a:buNone/>
            </a:pPr>
            <a:r>
              <a:rPr lang="en-US" sz="13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maximize recall subject to U-WER ≤ 1.05 × B0 and false alarms ≤ B1's at the same δ.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E7F3EC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807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200400" y="2788920"/>
            <a:ext cx="8165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B1 − B0 ≥ +10 recall pts and P − B1 ≥ +5 pts, constraints satisfied, on both dev splits → build toward production; scale eval.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74904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BF3DE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38587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/ NEGATIVE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3200400" y="3840480"/>
            <a:ext cx="8165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works but P ≈ B1 → semantic gate ineffective at this granularity. Documented negative result, interpreted through the H1a diagnostic; embedding-side redesign next.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480060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BEAEA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9103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1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200400" y="4892040"/>
            <a:ext cx="8165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(δ, λ) satisfies the U-WER budget → shallow fusion unsafe at these scales; boost-mechanics spec (asymmetry + revocation) becomes the next Phase 0.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5943600"/>
            <a:ext cx="11091672" cy="548640"/>
          </a:xfrm>
          <a:prstGeom prst="roundRect">
            <a:avLst>
              <a:gd name="adj" fmla="val 15000"/>
            </a:avLst>
          </a:prstGeom>
          <a:solidFill>
            <a:srgbClr val="1E2761"/>
          </a:solidFill>
          <a:ln/>
        </p:spPr>
      </p:sp>
      <p:sp>
        <p:nvSpPr>
          <p:cNvPr id="18" name="Text 15"/>
          <p:cNvSpPr/>
          <p:nvPr/>
        </p:nvSpPr>
        <p:spPr>
          <a:xfrm>
            <a:off x="822960" y="6053328"/>
            <a:ext cx="105430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Go/no-go before P ever runs: best template's oracle separation ≥ 0.05 — otherwise H1a is refuted for free and no GPU-hour is spent on gated decoding.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EXECUTE ON APPROVAL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instruments are already built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3514344" cy="411480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7" name="Shape 4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12140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77240" y="260604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Prompt-template diagnostic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77240" y="3200400"/>
            <a:ext cx="3057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phase0_prompt_template_diagnostic.ipynb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77240" y="3749040"/>
            <a:ext cx="3057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candidate templates scored by separation gap + ROC-AUC on both dev TUNE shards. Minutes on CPU, zero ASR decoding, audio never downloaded. Output: ranked table + decision JSON → fills spec §10.1 and the go/no-go.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337304" y="1783080"/>
            <a:ext cx="3514344" cy="411480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13" name="Shape 9"/>
          <p:cNvSpPr/>
          <p:nvPr/>
        </p:nvSpPr>
        <p:spPr>
          <a:xfrm>
            <a:off x="4565904" y="20116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632" y="2121408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65904" y="260604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baseline validation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4565904" y="3200400"/>
            <a:ext cx="3057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phase1_baseline_validation.ipynb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4565904" y="3749040"/>
            <a:ext cx="3057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Reviewer-reproducible B0: frozen config echoed to artifacts, resumable per-utterance JSONL, deterministic shards with SHA-256, published-WER sanity corridor, and a written Rule 2 verification protocol.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125968" y="1783080"/>
            <a:ext cx="3514344" cy="4114800"/>
          </a:xfrm>
          <a:prstGeom prst="roundRect">
            <a:avLst>
              <a:gd name="adj" fmla="val 2342"/>
            </a:avLst>
          </a:prstGeom>
          <a:solidFill>
            <a:srgbClr val="EEF4FB"/>
          </a:solidFill>
          <a:ln/>
        </p:spPr>
      </p:sp>
      <p:sp>
        <p:nvSpPr>
          <p:cNvPr id="19" name="Shape 14"/>
          <p:cNvSpPr/>
          <p:nvPr/>
        </p:nvSpPr>
        <p:spPr>
          <a:xfrm>
            <a:off x="8354568" y="201168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4296" y="212140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354568" y="260604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Calibration-corpus instruments (§10.3)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8354568" y="3200400"/>
            <a:ext cx="3057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2×2 grid: {WikiText, LibriSpeech} × {silence, audio}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8354568" y="3749040"/>
            <a:ext cx="3057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Audio-conditioned and text-only LibriSpeech alignment notebooks fit W variants and cross-evaluate every artifact — the corpus decision gets made by measurement, then frozen. BOTH runs COMPLETE → next slide.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548640" y="603504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prepped for Phase 2: V1 pipeline (trie + hook + LogitsProcessor, step-trace demo cell) and the V2 boost-mechanics variant, unit-verified.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RESULTS · 2×2 CALIBRATION GRID COMPLETE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§10.3: conditioning decides — corpus barely matters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11091672" cy="411480"/>
          </a:xfrm>
          <a:prstGeom prst="roundRect">
            <a:avLst>
              <a:gd name="adj" fmla="val 20000"/>
            </a:avLst>
          </a:prstGeom>
          <a:solidFill>
            <a:srgbClr val="FBF3DE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57276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supporting runs complete (2026-07-28, dev TUNE shards, ≈1,385 pairs each): audio-conditioned and text-only (silence-conditioned) LibriSpeech alignment. Evidence for decision 3.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01168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EEF4FB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" y="21488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W_audio on audio states (deployment distribution)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77240" y="242316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7D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1.000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2743200" y="24871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top-1, both splits · layer 3 · pools 67/71, chance ≈ 1.5%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48640" y="333756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EEF4F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34747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W_silence (WikiText, Exp-01) on the same audio states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77240" y="374904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941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0.28 / 0.31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3108960" y="3767328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/ other top-1 · paired cosine collapses 0.48 → 0.13 — conditioning mismatch is expensive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48640" y="4663440"/>
            <a:ext cx="5394960" cy="1005840"/>
          </a:xfrm>
          <a:prstGeom prst="roundRect">
            <a:avLst>
              <a:gd name="adj" fmla="val 8182"/>
            </a:avLst>
          </a:prstGeom>
          <a:solidFill>
            <a:srgbClr val="EEF4FB"/>
          </a:solidFill>
          <a:ln/>
        </p:spPr>
      </p:sp>
      <p:sp>
        <p:nvSpPr>
          <p:cNvPr id="17" name="Text 14"/>
          <p:cNvSpPr/>
          <p:nvPr/>
        </p:nvSpPr>
        <p:spPr>
          <a:xfrm>
            <a:off x="777240" y="480060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 direction is cheap — transfer is asymmetric.  </a:t>
            </a:r>
            <a:pPr indent="0" marL="0">
              <a:buNone/>
            </a:pPr>
            <a:r>
              <a:rPr lang="en-US" sz="110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W_audio on text states: 0.97 / 0.99. Corpus effect small: W_wikitext 0.97 / 0.92 vs W_text_ls 1.000 on LS text states. Audio-fitted W generalizes everywhere; silence-fitted does not.</a:t>
            </a:r>
            <a:endParaRPr lang="en-US" sz="11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011680"/>
          <a:ext cx="525780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55448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audio-cond.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WikiText · silence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LS text · silence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 / 0.41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414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 / 0.13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 / 0.78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 / 0.49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/ 0.96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 / 0.92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6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5"/>
          <p:cNvSpPr/>
          <p:nvPr/>
        </p:nvSpPr>
        <p:spPr>
          <a:xfrm>
            <a:off x="6309360" y="388620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probe (top-1, clean/other): the early-decode regime — where biasing decisions actually fire — works ONLY under audio conditioning. Text-only LibriSpeech calibration collapses to 0.06/0.13 at 25% prefix; audio conditioning reaches 0.39/0.41.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5852160"/>
            <a:ext cx="11091672" cy="731520"/>
          </a:xfrm>
          <a:prstGeom prst="roundRect">
            <a:avLst>
              <a:gd name="adj" fmla="val 11250"/>
            </a:avLst>
          </a:prstGeom>
          <a:solidFill>
            <a:srgbClr val="E7F3EC"/>
          </a:solidFill>
          <a:ln/>
        </p:spPr>
      </p:sp>
      <p:sp>
        <p:nvSpPr>
          <p:cNvPr id="21" name="Text 17"/>
          <p:cNvSpPr/>
          <p:nvPr/>
        </p:nvSpPr>
        <p:spPr>
          <a:xfrm>
            <a:off x="822960" y="5961888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(decision 3):  </a:t>
            </a:r>
            <a:pPr indent="0" marL="0">
              <a:buNone/>
            </a:pPr>
            <a:r>
              <a:rPr lang="en-US" sz="11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whisper_to_sonar_W_audio.pt (layer 3; hook shifts 4 → 3) — best or near-best in every grid cell. Caveat: 67/71-utterance pools saturate full-sentence retrieval; all contrasts are like-for-like on identical pools.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12064" cy="512064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594360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34440" y="457200"/>
            <a:ext cx="10405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234440" y="676656"/>
            <a:ext cx="10405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62B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are in the approval flow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FBF3DE"/>
          </a:solidFill>
          <a:ln/>
        </p:spPr>
      </p:sp>
      <p:sp>
        <p:nvSpPr>
          <p:cNvPr id="7" name="Shape 4"/>
          <p:cNvSpPr/>
          <p:nvPr/>
        </p:nvSpPr>
        <p:spPr>
          <a:xfrm>
            <a:off x="1103376" y="2148840"/>
            <a:ext cx="548640" cy="548640"/>
          </a:xfrm>
          <a:prstGeom prst="ellipse">
            <a:avLst/>
          </a:prstGeom>
          <a:solidFill>
            <a:srgbClr val="B07A1E"/>
          </a:solidFill>
          <a:ln/>
        </p:spPr>
      </p:sp>
      <p:sp>
        <p:nvSpPr>
          <p:cNvPr id="8" name="Text 5"/>
          <p:cNvSpPr/>
          <p:nvPr/>
        </p:nvSpPr>
        <p:spPr>
          <a:xfrm>
            <a:off x="1103376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640080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40080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B07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76656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review — spec v0.1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2206752" y="3474720"/>
            <a:ext cx="2286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arrow"/>
          </a:ln>
        </p:spPr>
      </p:sp>
      <p:sp>
        <p:nvSpPr>
          <p:cNvPr id="13" name="Shape 10"/>
          <p:cNvSpPr/>
          <p:nvPr/>
        </p:nvSpPr>
        <p:spPr>
          <a:xfrm>
            <a:off x="2435352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EEF4FB"/>
          </a:solidFill>
          <a:ln/>
        </p:spPr>
      </p:sp>
      <p:sp>
        <p:nvSpPr>
          <p:cNvPr id="14" name="Shape 11"/>
          <p:cNvSpPr/>
          <p:nvPr/>
        </p:nvSpPr>
        <p:spPr>
          <a:xfrm>
            <a:off x="2990088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2990088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2526792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2526792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2563368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ready; needs assigned reviewer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093464" y="3474720"/>
            <a:ext cx="2286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arrow"/>
          </a:ln>
        </p:spPr>
      </p:sp>
      <p:sp>
        <p:nvSpPr>
          <p:cNvPr id="20" name="Shape 17"/>
          <p:cNvSpPr/>
          <p:nvPr/>
        </p:nvSpPr>
        <p:spPr>
          <a:xfrm>
            <a:off x="4322064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EEF4FB"/>
          </a:solidFill>
          <a:ln/>
        </p:spPr>
      </p:sp>
      <p:sp>
        <p:nvSpPr>
          <p:cNvPr id="21" name="Shape 18"/>
          <p:cNvSpPr/>
          <p:nvPr/>
        </p:nvSpPr>
        <p:spPr>
          <a:xfrm>
            <a:off x="4876800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4876800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4413504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413504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PREPPED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450080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 pipeline + V2 variant prepped for code review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80176" y="3474720"/>
            <a:ext cx="2286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arrow"/>
          </a:ln>
        </p:spPr>
      </p:sp>
      <p:sp>
        <p:nvSpPr>
          <p:cNvPr id="27" name="Shape 24"/>
          <p:cNvSpPr/>
          <p:nvPr/>
        </p:nvSpPr>
        <p:spPr>
          <a:xfrm>
            <a:off x="6208776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EEF4FB"/>
          </a:solidFill>
          <a:ln/>
        </p:spPr>
      </p:sp>
      <p:sp>
        <p:nvSpPr>
          <p:cNvPr id="28" name="Shape 25"/>
          <p:cNvSpPr/>
          <p:nvPr/>
        </p:nvSpPr>
        <p:spPr>
          <a:xfrm>
            <a:off x="6763512" y="21488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9" name="Text 26"/>
          <p:cNvSpPr/>
          <p:nvPr/>
        </p:nvSpPr>
        <p:spPr>
          <a:xfrm>
            <a:off x="6763512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30" name="Text 27"/>
          <p:cNvSpPr/>
          <p:nvPr/>
        </p:nvSpPr>
        <p:spPr>
          <a:xfrm>
            <a:off x="6300216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300216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336792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mode built into every notebook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866888" y="3474720"/>
            <a:ext cx="2286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arrow"/>
          </a:ln>
        </p:spPr>
      </p:sp>
      <p:sp>
        <p:nvSpPr>
          <p:cNvPr id="34" name="Shape 31"/>
          <p:cNvSpPr/>
          <p:nvPr/>
        </p:nvSpPr>
        <p:spPr>
          <a:xfrm>
            <a:off x="8095488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EEF4FB"/>
          </a:solidFill>
          <a:ln/>
        </p:spPr>
      </p:sp>
      <p:sp>
        <p:nvSpPr>
          <p:cNvPr id="35" name="Shape 32"/>
          <p:cNvSpPr/>
          <p:nvPr/>
        </p:nvSpPr>
        <p:spPr>
          <a:xfrm>
            <a:off x="8650224" y="2148840"/>
            <a:ext cx="548640" cy="548640"/>
          </a:xfrm>
          <a:prstGeom prst="ellipse">
            <a:avLst/>
          </a:prstGeom>
          <a:solidFill>
            <a:srgbClr val="5A6272"/>
          </a:solidFill>
          <a:ln/>
        </p:spPr>
      </p:sp>
      <p:sp>
        <p:nvSpPr>
          <p:cNvPr id="36" name="Text 33"/>
          <p:cNvSpPr/>
          <p:nvPr/>
        </p:nvSpPr>
        <p:spPr>
          <a:xfrm>
            <a:off x="8650224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37" name="Text 34"/>
          <p:cNvSpPr/>
          <p:nvPr/>
        </p:nvSpPr>
        <p:spPr>
          <a:xfrm>
            <a:off x="8186928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8186928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AWAITS 0–3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8223504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config, TUNE→DEVTEST protocol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9753600" y="3474720"/>
            <a:ext cx="228600" cy="0"/>
          </a:xfrm>
          <a:prstGeom prst="line">
            <a:avLst/>
          </a:prstGeom>
          <a:noFill/>
          <a:ln w="22225">
            <a:solidFill>
              <a:srgbClr val="1E2761"/>
            </a:solidFill>
            <a:prstDash val="solid"/>
            <a:tailEnd type="arrow"/>
          </a:ln>
        </p:spPr>
      </p:sp>
      <p:sp>
        <p:nvSpPr>
          <p:cNvPr id="41" name="Shape 38"/>
          <p:cNvSpPr/>
          <p:nvPr/>
        </p:nvSpPr>
        <p:spPr>
          <a:xfrm>
            <a:off x="9982200" y="1920240"/>
            <a:ext cx="1658112" cy="3108960"/>
          </a:xfrm>
          <a:prstGeom prst="roundRect">
            <a:avLst>
              <a:gd name="adj" fmla="val 4963"/>
            </a:avLst>
          </a:prstGeom>
          <a:solidFill>
            <a:srgbClr val="EEF4FB"/>
          </a:solidFill>
          <a:ln/>
        </p:spPr>
      </p:sp>
      <p:sp>
        <p:nvSpPr>
          <p:cNvPr id="42" name="Shape 39"/>
          <p:cNvSpPr/>
          <p:nvPr/>
        </p:nvSpPr>
        <p:spPr>
          <a:xfrm>
            <a:off x="10536936" y="2148840"/>
            <a:ext cx="548640" cy="548640"/>
          </a:xfrm>
          <a:prstGeom prst="ellipse">
            <a:avLst/>
          </a:prstGeom>
          <a:solidFill>
            <a:srgbClr val="5A6272"/>
          </a:solidFill>
          <a:ln/>
        </p:spPr>
      </p:sp>
      <p:sp>
        <p:nvSpPr>
          <p:cNvPr id="43" name="Text 40"/>
          <p:cNvSpPr/>
          <p:nvPr/>
        </p:nvSpPr>
        <p:spPr>
          <a:xfrm>
            <a:off x="10536936" y="2176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44" name="Text 41"/>
          <p:cNvSpPr/>
          <p:nvPr/>
        </p:nvSpPr>
        <p:spPr>
          <a:xfrm>
            <a:off x="10073640" y="2834640"/>
            <a:ext cx="1475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10073640" y="3127248"/>
            <a:ext cx="1475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CONVENTIONS SET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0110216" y="3429000"/>
            <a:ext cx="140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 artifacts, configs, transcripts committed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48640" y="53949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A6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guarantee honored: no proposed-method implementation runs as an experiment until Phases 0 and 1 are approved.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REQUESTED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approvals to unblock Phase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184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78992" y="1527048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candidate set for H1a — selection strictly by the offline diagnostic (additions welcome)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532888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511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78992" y="2459736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IS21 biasing lists as primary validation/eval (dev via recipe, official test lists at Phase 4; N=100 default) — error-driven as secondary? test-other admissible?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48386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78992" y="3392424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calibration — adopt audio-conditioned W_audio, layer 3: 1.000 on audio states (silence-fitted W: 0.28–0.31) and 0.97–0.99 transferred to text states — robust in every 2×2 cell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398264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416552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78992" y="4325112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— +5 pts margin, U-WER ≤ 1.05×, go/no-go separation ≥ 0.05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1600200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7" name="Text 15"/>
          <p:cNvSpPr/>
          <p:nvPr/>
        </p:nvSpPr>
        <p:spPr>
          <a:xfrm>
            <a:off x="6172200" y="161848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02552" y="1527048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trie group-up embedding optimization to a follow-up spec (start naive, validate first)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2532888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2551176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702552" y="2459736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mechanics — adopt V2 (first-token asymmetry + failure-arc revocation) as P's mechanism, or run as an ablation arm?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72200" y="3465576"/>
            <a:ext cx="384048" cy="38404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/>
          <p:nvPr/>
        </p:nvSpPr>
        <p:spPr>
          <a:xfrm>
            <a:off x="6172200" y="3483864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702552" y="3392424"/>
            <a:ext cx="49103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the Rule 2 reviewer — required before Phase 1 can pass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72200" y="44348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CADCFC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457200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250" dirty="0">
                <a:solidFill>
                  <a:srgbClr val="26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EXPERIMENT_SPEC.md v0.1 (with your edits) → template diagnostic runs same-day, Phase 1 baseline starts immediately.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48640" y="6016752"/>
            <a:ext cx="82296" cy="12801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789763" y="5943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30887" y="5843016"/>
            <a:ext cx="82296" cy="47548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1272010" y="5925312"/>
            <a:ext cx="82296" cy="3108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1513133" y="5760720"/>
            <a:ext cx="82296" cy="6400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754257" y="5879592"/>
            <a:ext cx="82296" cy="40233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1995380" y="5669280"/>
            <a:ext cx="82296" cy="8229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236503" y="5806440"/>
            <a:ext cx="82296" cy="54864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477626" y="5916168"/>
            <a:ext cx="82296" cy="32918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718750" y="5724144"/>
            <a:ext cx="82296" cy="71323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959873" y="5852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3200996" y="5961888"/>
            <a:ext cx="82296" cy="23774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3442120" y="5797296"/>
            <a:ext cx="82296" cy="56692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3683243" y="5897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3924366" y="5696712"/>
            <a:ext cx="82296" cy="7680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4165490" y="5829300"/>
            <a:ext cx="82296" cy="5029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3" name="Shape 41"/>
          <p:cNvSpPr/>
          <p:nvPr/>
        </p:nvSpPr>
        <p:spPr>
          <a:xfrm>
            <a:off x="4406613" y="5943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4" name="Shape 42"/>
          <p:cNvSpPr/>
          <p:nvPr/>
        </p:nvSpPr>
        <p:spPr>
          <a:xfrm>
            <a:off x="4647736" y="5769864"/>
            <a:ext cx="82296" cy="62179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4888859" y="5870448"/>
            <a:ext cx="82296" cy="42062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5129983" y="5980176"/>
            <a:ext cx="82296" cy="20116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5371106" y="5815584"/>
            <a:ext cx="82296" cy="53035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5612229" y="5715000"/>
            <a:ext cx="82296" cy="7315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5853353" y="5888736"/>
            <a:ext cx="82296" cy="38404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6094476" y="5788152"/>
            <a:ext cx="82296" cy="58521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6335599" y="5925312"/>
            <a:ext cx="82296" cy="31089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6576723" y="5742432"/>
            <a:ext cx="82296" cy="67665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6817846" y="5852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7058969" y="5952744"/>
            <a:ext cx="82296" cy="25603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7300093" y="5806440"/>
            <a:ext cx="82296" cy="54864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7541216" y="5678424"/>
            <a:ext cx="82296" cy="80467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7782339" y="5897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8023462" y="5779008"/>
            <a:ext cx="82296" cy="60350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8264586" y="5943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8505709" y="5843016"/>
            <a:ext cx="82296" cy="47548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8746832" y="5733288"/>
            <a:ext cx="82296" cy="69494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8987956" y="5879592"/>
            <a:ext cx="82296" cy="40233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3" name="Shape 61"/>
          <p:cNvSpPr/>
          <p:nvPr/>
        </p:nvSpPr>
        <p:spPr>
          <a:xfrm>
            <a:off x="9229079" y="5971032"/>
            <a:ext cx="82296" cy="219456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4" name="Shape 62"/>
          <p:cNvSpPr/>
          <p:nvPr/>
        </p:nvSpPr>
        <p:spPr>
          <a:xfrm>
            <a:off x="9470202" y="5824728"/>
            <a:ext cx="82296" cy="51206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5" name="Shape 63"/>
          <p:cNvSpPr/>
          <p:nvPr/>
        </p:nvSpPr>
        <p:spPr>
          <a:xfrm>
            <a:off x="9711326" y="5916168"/>
            <a:ext cx="82296" cy="329184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6" name="Shape 64"/>
          <p:cNvSpPr/>
          <p:nvPr/>
        </p:nvSpPr>
        <p:spPr>
          <a:xfrm>
            <a:off x="9952449" y="5760720"/>
            <a:ext cx="82296" cy="6400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7" name="Shape 65"/>
          <p:cNvSpPr/>
          <p:nvPr/>
        </p:nvSpPr>
        <p:spPr>
          <a:xfrm>
            <a:off x="10193572" y="5861304"/>
            <a:ext cx="82296" cy="438912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8" name="Shape 66"/>
          <p:cNvSpPr/>
          <p:nvPr/>
        </p:nvSpPr>
        <p:spPr>
          <a:xfrm>
            <a:off x="10434695" y="5943600"/>
            <a:ext cx="82296" cy="27432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69" name="Shape 67"/>
          <p:cNvSpPr/>
          <p:nvPr/>
        </p:nvSpPr>
        <p:spPr>
          <a:xfrm>
            <a:off x="10675819" y="5797296"/>
            <a:ext cx="82296" cy="566928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70" name="Shape 68"/>
          <p:cNvSpPr/>
          <p:nvPr/>
        </p:nvSpPr>
        <p:spPr>
          <a:xfrm>
            <a:off x="10916942" y="5897880"/>
            <a:ext cx="82296" cy="36576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71" name="Shape 69"/>
          <p:cNvSpPr/>
          <p:nvPr/>
        </p:nvSpPr>
        <p:spPr>
          <a:xfrm>
            <a:off x="11158065" y="5989320"/>
            <a:ext cx="82296" cy="18288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  <p:sp>
        <p:nvSpPr>
          <p:cNvPr id="72" name="Shape 70"/>
          <p:cNvSpPr/>
          <p:nvPr/>
        </p:nvSpPr>
        <p:spPr>
          <a:xfrm>
            <a:off x="11399189" y="5852160"/>
            <a:ext cx="82296" cy="457200"/>
          </a:xfrm>
          <a:prstGeom prst="roundRect">
            <a:avLst>
              <a:gd name="adj" fmla="val 44444"/>
            </a:avLst>
          </a:prstGeom>
          <a:solidFill>
            <a:srgbClr val="CADCFC">
              <a:alpha val="75000"/>
            </a:srgbClr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2026-07-28T01:14:33Z</dcterms:created>
  <dcterms:modified xsi:type="dcterms:W3CDTF">2026-07-28T01:14:33Z</dcterms:modified>
</cp:coreProperties>
</file>