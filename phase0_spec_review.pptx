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gate per the research policy: no implementation until the lead approves this specification. Deck mirrors EXPERIMENT_SPEC.md v0.1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task: biasing lists are legitimate context (contact names, domain vocab). The novelty is the semantic gate; everything else is established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formula is the whole method. Emphasize: one fitted artifact (W), everything else frozen; the lambda=0 property is what makes the comparison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H1a exists because exploratory data showed bare-word embeddings carry no context signal (0.028). It converts the lead's prompt suggestion into a measured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card: measurement then consequence. The spec is not speculative — every constraint traces to a number we already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failure is the spec's origin story: every safeguard in sections 3, 5, 7 exists because of this table. V2 processor (potential-based revocation, first-token asymmetry) is implemented and unit-verified — decision 6 asks whether to adopt it as P's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cache-parity fix: exploratory runs had P at use_cache=False vs baselines cached — a Rule 1 violation we caught and froze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2 on the closing slide asks which keyword protocol is primary. The disclosure is deliberate — better we flag the burned split than an auditor.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Rule 1 heart: the conditions table maps one-to-one onto the policy's 'should not be changed without approval'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lead's question #2: exact correct-match definition, dataset choice, and the metrics that expose vandalism, not just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Pre-registration is the antidote to the dev/eval reversal we saw in exploration: 15 dev utterances said delta=3 was safe; 60 eval utterances said otherwise. Thresholds themselves are decision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approval unblocks immediate, low-risk execution — the diagnostic answers question 1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transfer gap (1.000 vs 0.28/0.31 on identical pools) settles the corpus/conditioning question; the text-only LibriSpeech cell of the 2x2 remains optional completeness. Layer choice for the hook changes 4 -&gt; 3 if adopted.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2/3 being 'prepped' is exploratory authoring, not experiment execution — nothing reportable runs before approvals.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decisions, not summary. Each maps to spec section 10; minute the outcomes and update the spec to v1.0 for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EXPERIMENT DESIGN REVIEW — RESEARCH POLICY RULE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Contextual Biasing for Whisper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shallow fusion + SONAR semantic gating — no model training anywhere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730752"/>
            <a:ext cx="82296" cy="1280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89763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30887" y="3557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272010" y="3639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13133" y="3474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54257" y="3593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95380" y="338328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36503" y="3520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77626" y="3630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18750" y="3438144"/>
            <a:ext cx="82296" cy="7132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959873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996" y="3675888"/>
            <a:ext cx="82296" cy="2377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42120" y="3511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3243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24366" y="3410712"/>
            <a:ext cx="82296" cy="7680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65490" y="3543300"/>
            <a:ext cx="82296" cy="5029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406613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47736" y="3483864"/>
            <a:ext cx="82296" cy="62179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88859" y="358444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9983" y="3694176"/>
            <a:ext cx="82296" cy="20116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71106" y="3529584"/>
            <a:ext cx="82296" cy="53035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12229" y="3429000"/>
            <a:ext cx="82296" cy="7315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853353" y="3602736"/>
            <a:ext cx="82296" cy="38404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094476" y="3502152"/>
            <a:ext cx="82296" cy="5852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35599" y="3639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76723" y="345643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817846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058969" y="3666744"/>
            <a:ext cx="82296" cy="2560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300093" y="3520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541216" y="3392424"/>
            <a:ext cx="82296" cy="80467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782339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23462" y="3493008"/>
            <a:ext cx="82296" cy="60350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264586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505709" y="3557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746832" y="3447288"/>
            <a:ext cx="82296" cy="6949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987956" y="3593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229079" y="3685032"/>
            <a:ext cx="82296" cy="2194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470202" y="3538728"/>
            <a:ext cx="82296" cy="51206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11326" y="3630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52449" y="3474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193572" y="3575304"/>
            <a:ext cx="82296" cy="43891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434695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675819" y="3511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916942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158065" y="3703320"/>
            <a:ext cx="82296" cy="1828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399189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48640" y="4892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Murugan Rajenthiran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 (Rule 2)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EXPERIMENT_SPEC.md v0.1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2026-07-28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48640" y="52578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approval of: hypothesis · baselines · dataset &amp; split · evaluation method · frozen experimental conditions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this phase's question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70078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15568" y="154533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words are where Whisper fails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115568" y="180136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drug names, product terms — underrepresented in training data, and exactly the words users care about most.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6060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70662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15568" y="255117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biasing is the standard remedy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115568" y="280720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keyword list supplied at inference nudges beam search toward expected words (shallow fusion — no training).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48640" y="36118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712464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15568" y="355701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constraint: fully zero-shot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115568" y="381304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Whisper, frozen SONAR, one fixed linear map W fitted offline. No fine-tuning anywhere in the pipeline.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48640" y="45720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EEF4FB"/>
          </a:solidFill>
          <a:ln/>
        </p:spPr>
      </p:sp>
      <p:sp>
        <p:nvSpPr>
          <p:cNvPr id="19" name="Text 13"/>
          <p:cNvSpPr/>
          <p:nvPr/>
        </p:nvSpPr>
        <p:spPr>
          <a:xfrm>
            <a:off x="822960" y="4773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22960" y="50749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semantic gate make trie biasing precise — boosting keywords the utterance context supports while suppressing the rest of the list?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492240" y="1600200"/>
            <a:ext cx="5074920" cy="4663440"/>
          </a:xfrm>
          <a:prstGeom prst="roundRect">
            <a:avLst>
              <a:gd name="adj" fmla="val 1765"/>
            </a:avLst>
          </a:prstGeom>
          <a:solidFill>
            <a:srgbClr val="EEF4FB"/>
          </a:solidFill>
          <a:ln/>
        </p:spPr>
      </p:sp>
      <p:sp>
        <p:nvSpPr>
          <p:cNvPr id="22" name="Shape 16"/>
          <p:cNvSpPr/>
          <p:nvPr/>
        </p:nvSpPr>
        <p:spPr>
          <a:xfrm>
            <a:off x="6903720" y="1828800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086600" y="192024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086600" y="21945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 → frozen Whisper encoder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9029700" y="2578608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26" name="Shape 20"/>
          <p:cNvSpPr/>
          <p:nvPr/>
        </p:nvSpPr>
        <p:spPr>
          <a:xfrm>
            <a:off x="6903720" y="2907792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086600" y="2999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(frozen decoder)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086600" y="32735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BPE token per step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9029700" y="3657600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30" name="Shape 24"/>
          <p:cNvSpPr/>
          <p:nvPr/>
        </p:nvSpPr>
        <p:spPr>
          <a:xfrm>
            <a:off x="6903720" y="3986784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86600" y="407822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bias term on logits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086600" y="43525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says WHERE · SONAR gate says HOW MUCH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029700" y="4736592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34" name="Shape 28"/>
          <p:cNvSpPr/>
          <p:nvPr/>
        </p:nvSpPr>
        <p:spPr>
          <a:xfrm>
            <a:off x="6903720" y="5065776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086600" y="51572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086600" y="543153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words recovered, others untouched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added term inside the decoding loop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93852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boost(token)  =  </a:t>
            </a:r>
            <a:pPr algn="ctr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pPr algn="ctr" indent="0" marL="0">
              <a:buNone/>
            </a:pPr>
            <a:r>
              <a:rPr lang="en-US" sz="2600" b="1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· max(0, cos( state · W ,  E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</a:t>
            </a:r>
            <a:pPr algn="ctr" indent="0" marL="0">
              <a:buNone/>
            </a:pPr>
            <a:r>
              <a:rPr lang="en-US" sz="2600" b="1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))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364992"/>
            <a:ext cx="182880" cy="18288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— the trie (WHERE)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77240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BPE-token trie over the list; 4 surface forms per word (±case × ±leading space); suffix-matched per beam per step; empty suffix = new word may start.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7304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5904" y="3364992"/>
            <a:ext cx="182880" cy="182880"/>
          </a:xfrm>
          <a:prstGeom prst="ellipse">
            <a:avLst/>
          </a:prstGeom>
          <a:solidFill>
            <a:srgbClr val="8EE3C8"/>
          </a:solidFill>
          <a:ln/>
        </p:spPr>
      </p:sp>
      <p:sp>
        <p:nvSpPr>
          <p:cNvPr id="14" name="Text 11"/>
          <p:cNvSpPr/>
          <p:nvPr/>
        </p:nvSpPr>
        <p:spPr>
          <a:xfrm>
            <a:off x="4840224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λ·cos — the gate (HOW MUCH)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65904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layer-4 state, pooled → projected by W into SONAR space → cosine vs each keyword embedding. Relevant words boosted hard, distractors suppressed.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5968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354568" y="3364992"/>
            <a:ext cx="182880" cy="1828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5"/>
          <p:cNvSpPr/>
          <p:nvPr/>
        </p:nvSpPr>
        <p:spPr>
          <a:xfrm>
            <a:off x="8628888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— the bridge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54568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512×1024 matrix, ridge-fitted once on frozen models (validated: ≈100% held-out retrieval). The only fitted artifact; checksummed and frozen.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E7F3EC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8338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ablation by construction:  </a:t>
            </a:r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 reduces the proposed method to trie-only exactly. Baseline and proposal differ by this one term and nothing else (Rule 1).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— primary, offline-testable, and null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primary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gating beats trie-only: keyword recall +≥5 pts absolute at equal-or-better U-WER and false alarms, on both dev splits.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in Phase 4 under the pre-registered operating-point rule.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7304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2" name="Shape 9"/>
          <p:cNvSpPr/>
          <p:nvPr/>
        </p:nvSpPr>
        <p:spPr>
          <a:xfrm>
            <a:off x="4565904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4565904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— embedding side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565904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Prompt-templated keyword embeddings (e.g. “A speech that includes ‘{kw}’”) separate in-context keywords from distractors far better than bare words.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65904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 offline in minutes — no ASR decoding. Answers the lead's question #1 by measurement, and gates H1 (go/no-go: separation ≥ 0.05).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25968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354568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C94141"/>
          </a:solidFill>
          <a:ln/>
        </p:spPr>
      </p:sp>
      <p:sp>
        <p:nvSpPr>
          <p:cNvPr id="18" name="Text 15"/>
          <p:cNvSpPr/>
          <p:nvPr/>
        </p:nvSpPr>
        <p:spPr>
          <a:xfrm>
            <a:off x="8354568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54568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biasing ≈ trie-only at matched operating points: the gate adds no information.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354568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so: documented negative result; redesign targets the embedding side, not λ.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SPEC LOOKS THIS WAY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evidence behind every safeguard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11091672" cy="457200"/>
          </a:xfrm>
          <a:prstGeom prst="roundRect">
            <a:avLst>
              <a:gd name="adj" fmla="val 18000"/>
            </a:avLst>
          </a:prstGeom>
          <a:solidFill>
            <a:srgbClr val="FBF3D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572768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Pre-Phase-0 exploratory numbers — motivation only (spec §9). Not for reporting, publication, or patent discussion.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0" name="Text 6"/>
          <p:cNvSpPr/>
          <p:nvPr/>
        </p:nvSpPr>
        <p:spPr>
          <a:xfrm>
            <a:off x="731520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31520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sentence retrieval, Whisper→SONAR linear map (layer 4; prefix probe 0.29 → 1.00)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31520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W exists — the design's riskiest assumption survived first.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390138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4" name="Text 10"/>
          <p:cNvSpPr/>
          <p:nvPr/>
        </p:nvSpPr>
        <p:spPr>
          <a:xfrm>
            <a:off x="3573018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0.028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3573018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gate separation with bare-word embeddings (in-context vs distractor)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73018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to gate on → H1a prompt templates; go/no-go pre-check before any decoding.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31636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8" name="Text 14"/>
          <p:cNvSpPr/>
          <p:nvPr/>
        </p:nvSpPr>
        <p:spPr>
          <a:xfrm>
            <a:off x="6414516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→ 0.52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6414516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certified baseline failures, trie-only shallow fusion at δ=3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414516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trie mechanism genuinely recovers words Whisper provably lost.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9073134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22" name="Text 18"/>
          <p:cNvSpPr/>
          <p:nvPr/>
        </p:nvSpPr>
        <p:spPr>
          <a:xfrm>
            <a:off x="9256014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0.128 → 0.700</a:t>
            </a:r>
            <a:endParaRPr lang="en-US" sz="3000" dirty="0"/>
          </a:p>
        </p:txBody>
      </p:sp>
      <p:sp>
        <p:nvSpPr>
          <p:cNvPr id="23" name="Text 19"/>
          <p:cNvSpPr/>
          <p:nvPr/>
        </p:nvSpPr>
        <p:spPr>
          <a:xfrm>
            <a:off x="9256014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U-WER at that same δ — unconstrained boosting vandalizes unbiased words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256014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pre-registered U-WER budget, error-driven mining, boost-mechanics fixes.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INSTRUCTIVE FAILURE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Unconstrained boosting: recall up, transcript ruined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U-WER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trie δ=3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41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41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trie+gate (bare words)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36576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B everywhere — exactly what the 0.028 oracle separation predicted for bare-word gating.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30936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BEAEA"/>
          </a:solidFill>
          <a:ln/>
        </p:spPr>
      </p:sp>
      <p:sp>
        <p:nvSpPr>
          <p:cNvPr id="9" name="Text 5"/>
          <p:cNvSpPr/>
          <p:nvPr/>
        </p:nvSpPr>
        <p:spPr>
          <a:xfrm>
            <a:off x="6537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damage looks like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3796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   </a:t>
            </a:r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…WE ARE HUSBANDMEN AND TILLERS OF THE SOIL…
</a:t>
            </a:r>
            <a:pPr indent="0" marL="0">
              <a:buNone/>
            </a:pPr>
            <a:r>
              <a:rPr lang="en-US" sz="1150" b="1" dirty="0">
                <a:solidFill>
                  <a:srgbClr val="5A6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  </a:t>
            </a:r>
            <a:pPr indent="0" marL="0">
              <a:buNone/>
            </a:pPr>
            <a:r>
              <a:rPr lang="en-US" sz="1150" dirty="0">
                <a:solidFill>
                  <a:srgbClr val="C941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…he, Wea Husspundman and Tillers of the soil…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537960" y="30632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1 — word-start distortion field: </a:t>
            </a:r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tokens of every list word get +δ at every word boundary.
</a:t>
            </a:r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2 — orphaned fragments: </a:t>
            </a:r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abandoned partial matches keep their earned bonus (no revocation).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16636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U-WER-constrained operating points (§7)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337304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17" name="Shape 12"/>
          <p:cNvSpPr/>
          <p:nvPr/>
        </p:nvSpPr>
        <p:spPr>
          <a:xfrm>
            <a:off x="4538472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912" y="516636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050536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Error-driven target mining — certified headroom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8125968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21" name="Shape 15"/>
          <p:cNvSpPr/>
          <p:nvPr/>
        </p:nvSpPr>
        <p:spPr>
          <a:xfrm>
            <a:off x="8327136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576" y="5166360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839200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Boost-mechanics V2 implemented &amp; unit-verified (decision 6)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and the proposed method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937760"/>
                <a:gridCol w="54223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experiment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Whisper beam search — no biasing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reference; source of error-driven keyword mining; Phase 1 reproduces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 shallow fusion — boost δ per continuing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established method the proposal must beat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+ semantic gate — δ + λ·max(0, cos(state·W, E_kw))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novel claim; λ = 0 recovers B1 exactly (built-in ablation)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29768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EF4FB"/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Comparability guarantees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22960" y="48006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decoding for all three conditions — including KV-cache OFF everywhere (P needs full-sequence states; B0/B1 match to kill the confound found in exploratory runs).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term inside one LogitsProcessor is the only permitted difference; anything else requires re-approval under Rule 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tuning on TUNE shard only: pick δ* with λ=0, then λ* at δ* — B1 is never handicapped.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split — develop on dev, keep test untouched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LibriSpeech dev-clean + dev-other (per your instruction) · streamed, never fully downloaded · utterances &gt; 29 s excluded and counted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057400"/>
            <a:ext cx="2772918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8" name="Shape 5"/>
          <p:cNvSpPr/>
          <p:nvPr/>
        </p:nvSpPr>
        <p:spPr>
          <a:xfrm>
            <a:off x="3376422" y="2057400"/>
            <a:ext cx="8263890" cy="640080"/>
          </a:xfrm>
          <a:prstGeom prst="roundRect">
            <a:avLst>
              <a:gd name="adj" fmla="val 8571"/>
            </a:avLst>
          </a:prstGeom>
          <a:solidFill>
            <a:srgbClr val="CADCF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167128"/>
            <a:ext cx="27729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25% — δ, λ, template selection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321558" y="2167128"/>
            <a:ext cx="8318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DEVTEST 75% — development-time reporting (untouched during tuning)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rule (frozen): sorted(ids) → Random(42).shuffle → first 25% = TUNE. Computed on unfiltered ID lists; SHA-256 of membership printed and matched across every notebook.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5394960" cy="1920240"/>
          </a:xfrm>
          <a:prstGeom prst="roundRect">
            <a:avLst>
              <a:gd name="adj" fmla="val 4286"/>
            </a:avLst>
          </a:prstGeom>
          <a:solidFill>
            <a:srgbClr val="EEF4F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IS21 deep-biasing benchmark (Le et al., Interspeech'21)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9502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Per-utterance rare-word lists (outside the 5k most frequent training words) + distractor variants N ∈ {100, 500, 1000}; N=100 for tuning. Dev lists rebuilt with the benchmark recipe; official test lists reserved for Phase 4 → numbers directly comparable with published deep-biasing results.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309360" y="347472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EEF4FB"/>
          </a:solidFill>
          <a:ln/>
        </p:spPr>
      </p:sp>
      <p:sp>
        <p:nvSpPr>
          <p:cNvPr id="16" name="Text 13"/>
          <p:cNvSpPr/>
          <p:nvPr/>
        </p:nvSpPr>
        <p:spPr>
          <a:xfrm>
            <a:off x="653796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lists — secondary (headroom view)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37960" y="3950208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Corpus-level error-driven lists: words B0 provably substituted/deleted, rarity-filtered, + equal distractors. Guarantees measurable headroom — text-rarity mining alone gave baseline recall 0.983 (nothing to measure).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77900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(spec §9):  </a:t>
            </a:r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mining touched test-other → that split is quarantined for final reporting. All development now on dev splits; test-clean/test-other frozen until an approved Phase 4 run.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§4 &amp; §6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Frozen configuration — what can and cannot differ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315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 value (B0 = B1 = 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openai/whisper-base — HF revision pinned in artifacts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 5 · deterministic · language/task pinned (en, transcribe) · no timestamps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disabled for ALL conditions (parity with P's state capture)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kHz mono · identical feature extraction · ≤ 29 s 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shared normalization (lowercase [a-z' ]) · jiwer version pinned · fixed attribution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Seeds &amp; shards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42 everywhere · shard membership recorded + SHA-256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 once before Phase 3, checksummed, never refit (corpus = decision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229600" y="1737360"/>
            <a:ext cx="3337560" cy="3291840"/>
          </a:xfrm>
          <a:prstGeom prst="roundRect">
            <a:avLst>
              <a:gd name="adj" fmla="val 2500"/>
            </a:avLst>
          </a:prstGeom>
          <a:solidFill>
            <a:srgbClr val="EEF4FB"/>
          </a:solidFill>
          <a:ln/>
        </p:spPr>
      </p:sp>
      <p:sp>
        <p:nvSpPr>
          <p:cNvPr id="8" name="Text 4"/>
          <p:cNvSpPr/>
          <p:nvPr/>
        </p:nvSpPr>
        <p:spPr>
          <a:xfrm>
            <a:off x="845820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to differ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45820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 (B1, P)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 (P only)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keyword-list contents per protocol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58200" y="35661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changing mid-experiment = re-approval under Rule 1.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metrics — recall alone is not success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965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665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01168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recall (primary)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25880" y="235915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Occurrence-level via jiwer word alignment: a hit only if the keyword sits in an equal chunk. No substring credit ('king' ≠ 'kingsman'); multi-word entries need contiguous alignment.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31636" y="173736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12" name="Shape 8"/>
          <p:cNvSpPr/>
          <p:nvPr/>
        </p:nvSpPr>
        <p:spPr>
          <a:xfrm>
            <a:off x="6460236" y="1965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066544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08876" y="201168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B-WER / U-WER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7008876" y="235915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split by reference word (biased vs unbiased); insertions by hypothesis word — the IS21 benchmark's own protocol, so results are comparable with published work. U-WER is the collateral-damage meter and the tuning constraint.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7764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17" name="Shape 12"/>
          <p:cNvSpPr/>
          <p:nvPr/>
        </p:nvSpPr>
        <p:spPr>
          <a:xfrm>
            <a:off x="777240" y="42062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306824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425196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325880" y="459943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words inserted where the reference has none. Meaningful because every list is ~50% distractors — the population the gate must suppress.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31636" y="397764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22" name="Shape 16"/>
          <p:cNvSpPr/>
          <p:nvPr/>
        </p:nvSpPr>
        <p:spPr>
          <a:xfrm>
            <a:off x="6460236" y="42062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4306824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08876" y="425196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gate separation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008876" y="459943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cos(kw, own-utterance embedding) − mean cos(distractor, utterances). Selects the H1a template and gates condition P (go/no-go ≥ 0.05).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metrics per split (dev-clean, dev-other) with utterance and occurrence counts alongside every rate — differences under ~20 occurrences are treated as noise.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success and failure criteria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EF4F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74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Operating-point rule (TUNE only, fixed before any eval):  </a:t>
            </a:r>
            <a:pPr indent="0" marL="0">
              <a:buNone/>
            </a:pPr>
            <a:r>
              <a:rPr lang="en-US" sz="13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recall subject to U-WER ≤ 1.05 × B0 and false alarms ≤ B1's at the same δ.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E7F3EC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807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00400" y="278892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B1 − B0 ≥ +10 recall pts and P − B1 ≥ +5 pts, constraints satisfied, on both dev splits → build toward production; scale eval.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BF3DE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858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NEGATIVE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00400" y="384048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works but P ≈ B1 → semantic gate ineffective at this granularity. Documented negative result, interpreted through the H1a diagnostic; embedding-side redesign next.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80060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BEAEA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910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200400" y="489204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(δ, λ) satisfies the U-WER budget → shallow fusion unsafe at these scales; boost-mechanics spec (asymmetry + revocation) becomes the next Phase 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943600"/>
            <a:ext cx="11091672" cy="54864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6053328"/>
            <a:ext cx="10543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before P ever runs: best template's oracle separation ≥ 0.05 — otherwise H1a is refuted for free and no GPU-hour is spent on gated decoding.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 ON APPROVAL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instruments are already built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Prompt-template diagnostic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77240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phase0_prompt_template_diagnostic.ipynb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77240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candidate templates scored by separation gap + ROC-AUC on both dev TUNE shards. Minutes on CPU, zero ASR decoding, audio never downloaded. Output: ranked table + decision JSON → fills spec §10.1 and the go/no-go.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37304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3" name="Shape 9"/>
          <p:cNvSpPr/>
          <p:nvPr/>
        </p:nvSpPr>
        <p:spPr>
          <a:xfrm>
            <a:off x="4565904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32" y="21214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65904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validation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65904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phase1_baseline_validation.ipynb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4565904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Reviewer-reproducible B0: frozen config echoed to artifacts, resumable per-utterance JSONL, deterministic shards with SHA-256, published-WER sanity corridor, and a written Rule 2 verification protocol.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125968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9" name="Shape 14"/>
          <p:cNvSpPr/>
          <p:nvPr/>
        </p:nvSpPr>
        <p:spPr>
          <a:xfrm>
            <a:off x="8354568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296" y="21214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4568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Calibration-corpus instruments (§10.3)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354568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2×2 grid: {WikiText, LibriSpeech} × {silence, audio}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8354568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Audio-conditioned and text-only LibriSpeech alignment notebooks fit W variants and cross-evaluate every artifact — the corpus decision gets made by measurement, then frozen. Audio-conditioned run COMPLETE → next slide.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prepped for Phase 2: V1 pipeline (trie + hook + LogitsProcessor, step-trace demo cell) and the V2 boost-mechanics variant, unit-verified.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RESULT · PHASE 0 SUPPORTING ANALYSIS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§10.3 answered by measurement: calibrate W on audio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11091672" cy="411480"/>
          </a:xfrm>
          <a:prstGeom prst="roundRect">
            <a:avLst>
              <a:gd name="adj" fmla="val 20000"/>
            </a:avLst>
          </a:prstGeom>
          <a:solidFill>
            <a:srgbClr val="FBF3D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57276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Audio-conditioned alignment run, 2026-07-28 — dev-clean/dev-other TUNE shards, ≈1,385 (audio, reference) pairs, teacher-forced over real encoder outputs. Supporting analysis for decision 3.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EEF4FB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W_audio — fitted on audio-conditioned states (layer 3)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2514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10896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top-1 retrieval on BOTH splits (test pools 67 / 71; chance ≈ 1.5%) · paired cosine 0.48–0.51 vs random 0.17–0.19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EEF4F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087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W_silence (Exp-01) evaluated on the same audio states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4389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/ 0.31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3291840" y="43434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dev-clean / dev-other top-1 at its native layer 4 · paired cosine collapses to ≈ 0.13 — the conditioning mismatch is expensive at deployment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057400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128016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 seen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dev-clean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dev-other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Exp-01 (silence)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6309360" y="406908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probe (top-1, W_audio): the early-decode regime — 25% of the sentence, where biasing decisions actually fire — gains ~10 points under audio conditioning. Cross-attention gives the decoder whole-utterance acoustic evidence from step one.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580644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7F3EC"/>
          </a:solidFill>
          <a:ln/>
        </p:spPr>
      </p:sp>
      <p:sp>
        <p:nvSpPr>
          <p:cNvPr id="19" name="Text 15"/>
          <p:cNvSpPr/>
          <p:nvPr/>
        </p:nvSpPr>
        <p:spPr>
          <a:xfrm>
            <a:off x="822960" y="5925312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(decision 3):  </a:t>
            </a:r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whisper_to_sonar_W_audio.pt — audio-conditioned, best layer 3 (shifted from silence-conditioned layer 4) — as the calibration artifact. Caveat: 67/71-utterance pools saturate full-sentence retrieval; the W_audio-vs-W_silence contrast is like-for-like on identical pools.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in the approval flow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FBF3DE"/>
          </a:solidFill>
          <a:ln/>
        </p:spPr>
      </p:sp>
      <p:sp>
        <p:nvSpPr>
          <p:cNvPr id="7" name="Shape 4"/>
          <p:cNvSpPr/>
          <p:nvPr/>
        </p:nvSpPr>
        <p:spPr>
          <a:xfrm>
            <a:off x="1103376" y="2148840"/>
            <a:ext cx="548640" cy="548640"/>
          </a:xfrm>
          <a:prstGeom prst="ellipse">
            <a:avLst/>
          </a:prstGeom>
          <a:solidFill>
            <a:srgbClr val="B07A1E"/>
          </a:solidFill>
          <a:ln/>
        </p:spPr>
      </p:sp>
      <p:sp>
        <p:nvSpPr>
          <p:cNvPr id="8" name="Text 5"/>
          <p:cNvSpPr/>
          <p:nvPr/>
        </p:nvSpPr>
        <p:spPr>
          <a:xfrm>
            <a:off x="1103376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6656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— spec v0.1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06752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13" name="Shape 10"/>
          <p:cNvSpPr/>
          <p:nvPr/>
        </p:nvSpPr>
        <p:spPr>
          <a:xfrm>
            <a:off x="2435352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90088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2990088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526792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526792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563368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ready; needs assigned reviewer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093464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20" name="Shape 17"/>
          <p:cNvSpPr/>
          <p:nvPr/>
        </p:nvSpPr>
        <p:spPr>
          <a:xfrm>
            <a:off x="4322064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21" name="Shape 18"/>
          <p:cNvSpPr/>
          <p:nvPr/>
        </p:nvSpPr>
        <p:spPr>
          <a:xfrm>
            <a:off x="487680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4876800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4413504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413504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PREPPED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450080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pipeline + V2 variant prepped for code review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80176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27" name="Shape 24"/>
          <p:cNvSpPr/>
          <p:nvPr/>
        </p:nvSpPr>
        <p:spPr>
          <a:xfrm>
            <a:off x="6208776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63512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6763512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300216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300216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336792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mode built into every notebook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866888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34" name="Shape 31"/>
          <p:cNvSpPr/>
          <p:nvPr/>
        </p:nvSpPr>
        <p:spPr>
          <a:xfrm>
            <a:off x="8095488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35" name="Shape 32"/>
          <p:cNvSpPr/>
          <p:nvPr/>
        </p:nvSpPr>
        <p:spPr>
          <a:xfrm>
            <a:off x="8650224" y="2148840"/>
            <a:ext cx="548640" cy="548640"/>
          </a:xfrm>
          <a:prstGeom prst="ellipse">
            <a:avLst/>
          </a:prstGeom>
          <a:solidFill>
            <a:srgbClr val="5A6272"/>
          </a:solidFill>
          <a:ln/>
        </p:spPr>
      </p:sp>
      <p:sp>
        <p:nvSpPr>
          <p:cNvPr id="36" name="Text 33"/>
          <p:cNvSpPr/>
          <p:nvPr/>
        </p:nvSpPr>
        <p:spPr>
          <a:xfrm>
            <a:off x="8650224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8186928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186928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AWAITS 0–3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3504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config, TUNE→DEVTEST protocol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9753600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41" name="Shape 38"/>
          <p:cNvSpPr/>
          <p:nvPr/>
        </p:nvSpPr>
        <p:spPr>
          <a:xfrm>
            <a:off x="9982200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42" name="Shape 39"/>
          <p:cNvSpPr/>
          <p:nvPr/>
        </p:nvSpPr>
        <p:spPr>
          <a:xfrm>
            <a:off x="10536936" y="2148840"/>
            <a:ext cx="548640" cy="548640"/>
          </a:xfrm>
          <a:prstGeom prst="ellipse">
            <a:avLst/>
          </a:prstGeom>
          <a:solidFill>
            <a:srgbClr val="5A6272"/>
          </a:solidFill>
          <a:ln/>
        </p:spPr>
      </p:sp>
      <p:sp>
        <p:nvSpPr>
          <p:cNvPr id="43" name="Text 40"/>
          <p:cNvSpPr/>
          <p:nvPr/>
        </p:nvSpPr>
        <p:spPr>
          <a:xfrm>
            <a:off x="10536936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10073640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073640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SET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0110216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artifacts, configs, transcripts committed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48640" y="53949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guarantee honored: no proposed-method implementation runs as an experiment until Phases 0 and 1 are approved.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REQUESTED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approvals to unblock Phase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184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1527048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candidate set for H1a — selection strictly by the offline diagnostic (additions welcome)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511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78992" y="2459736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IS21 biasing lists as primary validation/eval (dev via recipe, official test lists at Phase 4; N=100 default) — error-driven as secondary? test-other admissible?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8386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3392424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calibration — adopt audio-conditioned W_audio, layer 3 (measured: 1.000 vs 0.28–0.31 top-1 for silence-fitted W on audio states)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98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1655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4325112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— +5 pts margin, U-WER ≤ 1.05×, go/no-go separation ≥ 0.05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60020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16184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02552" y="1527048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trie group-up embedding optimization to a follow-up spec (start naive, validate first)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2532888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5511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02552" y="2459736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mechanics — adopt V2 (first-token asymmetry + failure-arc revocation) as P's mechanism, or run as an ablation arm?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46557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348386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02552" y="3392424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the Rule 2 reviewer — required before Phase 1 can pass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44348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CADCFC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457200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EXPERIMENT_SPEC.md v0.1 (with your edits) → template diagnostic runs same-day, Phase 1 baseline starts immediately.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6016752"/>
            <a:ext cx="82296" cy="1280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89763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30887" y="5843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72010" y="5925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13133" y="5760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54257" y="5879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95380" y="566928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36503" y="5806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477626" y="5916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18750" y="5724144"/>
            <a:ext cx="82296" cy="7132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959873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00996" y="5961888"/>
            <a:ext cx="82296" cy="2377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42120" y="5797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3243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24366" y="5696712"/>
            <a:ext cx="82296" cy="7680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65490" y="5829300"/>
            <a:ext cx="82296" cy="5029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06613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47736" y="5769864"/>
            <a:ext cx="82296" cy="62179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88859" y="587044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9983" y="5980176"/>
            <a:ext cx="82296" cy="20116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71106" y="5815584"/>
            <a:ext cx="82296" cy="53035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12229" y="5715000"/>
            <a:ext cx="82296" cy="7315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3353" y="5888736"/>
            <a:ext cx="82296" cy="38404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94476" y="5788152"/>
            <a:ext cx="82296" cy="5852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35599" y="5925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76723" y="574243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817846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058969" y="5952744"/>
            <a:ext cx="82296" cy="2560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300093" y="5806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541216" y="5678424"/>
            <a:ext cx="82296" cy="80467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782339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023462" y="5779008"/>
            <a:ext cx="82296" cy="60350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264586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505709" y="5843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746832" y="5733288"/>
            <a:ext cx="82296" cy="6949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987956" y="5879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229079" y="5971032"/>
            <a:ext cx="82296" cy="2194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470202" y="5824728"/>
            <a:ext cx="82296" cy="51206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11326" y="5916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52449" y="5760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193572" y="5861304"/>
            <a:ext cx="82296" cy="43891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434695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10675819" y="5797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916942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11158065" y="5989320"/>
            <a:ext cx="82296" cy="1828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11399189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2026-07-28T01:08:26Z</dcterms:created>
  <dcterms:modified xsi:type="dcterms:W3CDTF">2026-07-28T01:08:26Z</dcterms:modified>
</cp:coreProperties>
</file>